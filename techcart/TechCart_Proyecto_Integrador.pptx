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CART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TechCart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0" y="2194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0875EC"/>
                </a:solidFill>
              </a:rPr>
              <a:t>PROYECTO INTEGRADOR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6492240"/>
            <a:ext cx="11384280" cy="18288"/>
          </a:xfrm>
          <a:prstGeom prst="rect">
            <a:avLst/>
          </a:prstGeom>
          <a:solidFill>
            <a:srgbClr val="DDE6F2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6547104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A"/>
                </a:solidFill>
              </a:rPr>
              <a:t>Tienda web de productos tecnológicos - HTML5 · CSS3 · JavaScript · POO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4572000" cy="4572000"/>
          </a:xfrm>
          <a:prstGeom prst="ellipse">
            <a:avLst/>
          </a:prstGeom>
          <a:solidFill>
            <a:srgbClr val="0F7CEB">
              <a:alpha val="85000"/>
            </a:srgbClr>
          </a:solidFill>
          <a:ln w="12700">
            <a:solidFill>
              <a:srgbClr val="0F7C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389120"/>
            <a:ext cx="2926080" cy="2926080"/>
          </a:xfrm>
          <a:prstGeom prst="ellipse">
            <a:avLst/>
          </a:prstGeom>
          <a:solidFill>
            <a:srgbClr val="13AE9F">
              <a:alpha val="95000"/>
            </a:srgbClr>
          </a:solidFill>
          <a:ln w="12700">
            <a:solidFill>
              <a:srgbClr val="13AE9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7772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3305C"/>
          </a:solidFill>
          <a:ln w="12700">
            <a:solidFill>
              <a:srgbClr val="133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813816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PROYECTO INTEGRADOR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</a:rPr>
              <a:t>TECHCART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FFF"/>
                </a:solidFill>
              </a:rPr>
              <a:t>Tienda web de productos tecnológicos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6384" y="2788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8FB"/>
                </a:solidFill>
              </a:rPr>
              <a:t>Carrito de compras · Programación Orientada a Objetos · SPA · Responsive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520440"/>
            <a:ext cx="4114800" cy="0"/>
          </a:xfrm>
          <a:prstGeom prst="line">
            <a:avLst/>
          </a:prstGeom>
          <a:noFill/>
          <a:ln w="50800">
            <a:solidFill>
              <a:srgbClr val="13AE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730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Presentación técnica y funcional del proyecto</a:t>
            </a:r>
            <a:endParaRPr lang="en-US" sz="1100" dirty="0"/>
          </a:p>
        </p:txBody>
      </p:sp>
      <p:pic>
        <p:nvPicPr>
          <p:cNvPr id="11" name="Image 0" descr="/mnt/data/escaparate_tecnológico_sobre_pedest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212080" cy="4480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989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7E4"/>
                </a:solidFill>
              </a:rPr>
              <a:t>HTML5  ·  CSS3  ·  JavaScript  ·  LocalStorage  ·  JSON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Presentación del proyecto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12618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Una versión más clara y enfocada del flujo de presentación usado como referencia.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756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5EC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Problema y oportunidad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1688" y="18745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EAF4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0756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5EC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Objetivo y alcance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65008" y="18745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0756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5EC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2396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Requisitos funcionales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34747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5EC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Arquitectura y POO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61688" y="34747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5EC"/>
                </a:solidFill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Interfaz y experiencia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65008" y="34747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5EC"/>
                </a:solidFill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2396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Responsive y cierre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5257800"/>
            <a:ext cx="106984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TechCart toma la estructura temática de la presentación de referencia - problema, objetivo, alcance, requisitos, arquitectura, interfaz y responsive - pero la adapta a una tienda tecnológica y la simplifica para una exposición más efectiva.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Descripción del problema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12618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Comprar tecnología en línea suele implicar catálogos dispersos, procesos de compra poco claros y escasa continuidad entre navegación, carrito y orden.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5120640" cy="3474720"/>
          </a:xfrm>
          <a:prstGeom prst="roundRect">
            <a:avLst>
              <a:gd name="adj" fmla="val NaN"/>
            </a:avLst>
          </a:prstGeom>
          <a:solidFill>
            <a:srgbClr val="0D1B3E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El reto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87552" y="2697480"/>
            <a:ext cx="42976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00" dirty="0">
                <a:solidFill>
                  <a:srgbClr val="DCE8F7"/>
                </a:solidFill>
              </a:rPr>
              <a:t>Centralizar el catálogo tecnológico en una experiencia coherente.</a:t>
            </a:r>
            <a:endParaRPr lang="en-US" sz="1100" dirty="0"/>
          </a:p>
          <a:p>
            <a:r>
              <a:rPr lang="en-US" sz="1100" dirty="0">
                <a:solidFill>
                  <a:srgbClr val="DCE8F7"/>
                </a:solidFill>
              </a:rPr>
              <a:t>Permitir registro e inicio de sesión con validación.</a:t>
            </a:r>
            <a:endParaRPr lang="en-US" sz="1100" dirty="0"/>
          </a:p>
          <a:p>
            <a:r>
              <a:rPr lang="en-US" sz="1100" dirty="0">
                <a:solidFill>
                  <a:srgbClr val="DCE8F7"/>
                </a:solidFill>
              </a:rPr>
              <a:t>Mantener el carrito y los datos del cliente entre vistas.</a:t>
            </a:r>
            <a:endParaRPr lang="en-US" sz="1100" dirty="0"/>
          </a:p>
          <a:p>
            <a:r>
              <a:rPr lang="en-US" sz="1100" dirty="0">
                <a:solidFill>
                  <a:srgbClr val="DCE8F7"/>
                </a:solidFill>
              </a:rPr>
              <a:t>Actualizar la interfaz sin recargar la aplicación.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2423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73368" y="20756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21396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🧭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0" y="2075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Navegación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2377440"/>
            <a:ext cx="1463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Flujo claro desde la landing hasta catálogo, carrito y orden.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8823960" y="1874520"/>
            <a:ext cx="2423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25128" y="20756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9992" y="21396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0" y="2075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Acceso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0" y="2377440"/>
            <a:ext cx="1463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Registro, login, tres intentos y modificación segura del perfil.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172200" y="3657600"/>
            <a:ext cx="2423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3368" y="385876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9227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🛒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49440" y="3858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Compra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4160520"/>
            <a:ext cx="1463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Agregar, modificar cantidades, eliminar y recalcular total.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823960" y="3657600"/>
            <a:ext cx="2423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25128" y="385876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9992" y="39227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01200" y="3858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Responsive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0" y="4160520"/>
            <a:ext cx="1463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Uso consistente en escritorio, tablet y móvil.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Análisis de la solución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12618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TechCart responde al problema con una arquitectura simple, modular y demostrable en el navegador.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4672" y="1828800"/>
            <a:ext cx="530352" cy="530352"/>
          </a:xfrm>
          <a:prstGeom prst="ellipse">
            <a:avLst/>
          </a:prstGeom>
          <a:solidFill>
            <a:srgbClr val="0875EC"/>
          </a:solidFill>
          <a:ln w="12700">
            <a:solidFill>
              <a:srgbClr val="087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568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Experiencia pública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94760" y="180136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389"/>
                </a:solidFill>
              </a:rPr>
              <a:t>Landing, búsqueda, categorías y llamadas a login/registro.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2788920"/>
            <a:ext cx="530352" cy="530352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91693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Experiencia privada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276148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389"/>
                </a:solidFill>
              </a:rPr>
              <a:t>SPA con sidebar, catálogo, carrito, compras y perfil.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" y="3749040"/>
            <a:ext cx="530352" cy="530352"/>
          </a:xfrm>
          <a:prstGeom prst="ellipse">
            <a:avLst/>
          </a:prstGeom>
          <a:solidFill>
            <a:srgbClr val="0875EC"/>
          </a:solidFill>
          <a:ln w="12700">
            <a:solidFill>
              <a:srgbClr val="087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8770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Persistencia simulada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372160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389"/>
                </a:solidFill>
              </a:rPr>
              <a:t>LocalStorage para clientes, sesión y carrito; JSON para catálogo.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" y="4709160"/>
            <a:ext cx="530352" cy="530352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83717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4690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POO real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94760" y="468172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389"/>
                </a:solidFill>
              </a:rPr>
              <a:t>Producto como superclase y subclases Laptop, Smartphone y Accesorio.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" y="5715000"/>
            <a:ext cx="10561320" cy="475488"/>
          </a:xfrm>
          <a:prstGeom prst="roundRect">
            <a:avLst>
              <a:gd name="adj" fmla="val 23077"/>
            </a:avLst>
          </a:prstGeom>
          <a:solidFill>
            <a:srgbClr val="EAF4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843016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5EC"/>
                </a:solidFill>
              </a:rPr>
              <a:t>Resultado esperado: una simulación de comercio electrónico funcional, presentable y alineada con los criterios de evaluación.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Objetivo del proyecto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737360"/>
            <a:ext cx="106527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94560"/>
            <a:ext cx="10012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B3D"/>
                </a:solidFill>
              </a:rPr>
              <a:t>Desarrollar una aplicación web funcional que simule una tienda de productos tecnológicos y un carrito de compras, aplicando Programación Orientada a Objetos, manipulación del DOM, persistencia simulada y diseño responsive.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880360" y="3931920"/>
            <a:ext cx="6400800" cy="0"/>
          </a:xfrm>
          <a:prstGeom prst="line">
            <a:avLst/>
          </a:prstGeom>
          <a:noFill/>
          <a:ln w="50800">
            <a:solidFill>
              <a:srgbClr val="13AE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4206240"/>
            <a:ext cx="8595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El proyecto prioriza claridad, modularidad, experiencia de usuario y evidencia explícita de herencia y polimorfismo.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Alcance - sí incluye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7373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93852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0025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Gestión de clientes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1783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Registro, login, máximo tres intentos y modificación de datos con verificación de contraseña.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611880" y="17373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3048" y="193852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20025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89120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Catálogo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240280"/>
            <a:ext cx="1783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Productos tecnológicos cargados desde JSON y convertidos a objetos de dominio.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537960" y="17373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9128" y="193852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3992" y="20025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🛒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0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Carrito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2240280"/>
            <a:ext cx="1783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Agregar, eliminar, cambiar cantidades y total en tiempo real.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9464040" y="17373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65208" y="193852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0072" y="20025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241280" y="1938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Orden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0" y="2240280"/>
            <a:ext cx="1097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Generación de resumen final con productos, total, fecha y estado.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85800" y="370332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39044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9684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🧩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63040" y="39044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SPA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4206240"/>
            <a:ext cx="1783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Panel interno sin recarga, con navegación por vistas y sidebar responsive.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3611880" y="370332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3048" y="39044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39684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💬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389120" y="39044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TechBot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89120" y="4206240"/>
            <a:ext cx="1783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Chat flotante con respuestas predeterminadas y navegación guiada.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6537960" y="370332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39128" y="39044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39684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315200" y="39044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Persistencia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4206240"/>
            <a:ext cx="1783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LocalStorage para sesión, clientes y carrito; catálogo externo en JSON.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9464040" y="370332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65208" y="39044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0072" y="39684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0241280" y="3904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Responsive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241280" y="4206240"/>
            <a:ext cx="1097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Desktop, tablet y móvil.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Alcance - no incluye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12618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La solución es una simulación académica orientada al frontend y a la lógica de negocio en JavaScript.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749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💳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7373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Pagos reales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2450592"/>
            <a:ext cx="3794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No integra pasarelas de pago ni procesa dinero real.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0749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🗄️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3609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Base de datos remota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2450592"/>
            <a:ext cx="3794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No usa MySQL, PostgreSQL ni servicios cloud de producción.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50749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23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📦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73736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Logística real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4325112"/>
            <a:ext cx="3794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No conecta transportadoras ni rastreo de envíos real.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46520" y="3703320"/>
            <a:ext cx="50749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023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🔑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36092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Seguridad productiva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4325112"/>
            <a:ext cx="3794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Las credenciales simuladas se almacenan localmente; no reemplaza autenticación de servidor.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Misión y visión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3383280"/>
          </a:xfrm>
          <a:prstGeom prst="roundRect">
            <a:avLst>
              <a:gd name="adj" fmla="val NaN"/>
            </a:avLst>
          </a:prstGeom>
          <a:solidFill>
            <a:srgbClr val="0D1B3E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212140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5325E"/>
          </a:solidFill>
          <a:ln w="12700">
            <a:solidFill>
              <a:srgbClr val="153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" y="21579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MISIÓN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44805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Ofrecer una experiencia de compra tecnológica clara, intuitiva y confiable, integrando catálogo, carrito, gestión del cliente y orden de compra en una sola interfaz web.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E9F7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212140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6EBFF"/>
          </a:solidFill>
          <a:ln w="12700">
            <a:solidFill>
              <a:srgbClr val="D6E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1579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0875EC"/>
                </a:solidFill>
              </a:rPr>
              <a:t>VISIÓN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4805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B3D"/>
                </a:solidFill>
              </a:rPr>
              <a:t>Evolucionar TechCart hacia una plataforma modular y escalable que permita ampliar categorías, servicios y persistencia sin rehacer la arquitectura central.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Requisitos funcionales - gestión de clientes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5EC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0116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Registro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2423160"/>
            <a:ext cx="3886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Crear cuenta con nombre, usuario, correo, dirección y contraseña.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5EC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0116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Inicio de sesión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2423160"/>
            <a:ext cx="3886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Validar credenciales y limitar a tres intentos fallidos.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5EC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8862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Sesión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4297680"/>
            <a:ext cx="3886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Mantener el usuario autenticado y proteger el panel interno.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365760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EAF9F6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AE9F"/>
                </a:solidFill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23760" y="38862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Modificación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4297680"/>
            <a:ext cx="3886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Bloquear datos hasta verificar contraseña actual; permitir cambio de información y clave.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Requisitos funcionales - productos y carrito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98424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0482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🖥️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984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Catálogo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2286000"/>
            <a:ext cx="2423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Nombre, imagen, descripción, especificaciones y precio.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6008" y="198424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0482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12080" y="1984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Agregar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2286000"/>
            <a:ext cx="2423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Añadir productos y mantener cantidad por referencia.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183880" y="178308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5048" y="198424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20482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0" y="1984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Modificar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2286000"/>
            <a:ext cx="2423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Aumentar o disminuir unidades en tiempo real.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85800" y="370332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" y="39044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39684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🗑️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6304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Eliminar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4206240"/>
            <a:ext cx="2423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Retirar productos del carrito.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4434840" y="370332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39044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39684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21208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Total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4206240"/>
            <a:ext cx="2423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Recalcular valor total de forma inmediata.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183880" y="370332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85048" y="39044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9912" y="39684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96112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Confirmar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4206240"/>
            <a:ext cx="2423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Crear una orden con detalle, fecha, total y estado.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Flujo principal del usuario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242316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578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Landing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1920240" y="2944368"/>
            <a:ext cx="502920" cy="0"/>
          </a:xfrm>
          <a:prstGeom prst="line">
            <a:avLst/>
          </a:prstGeom>
          <a:noFill/>
          <a:ln w="2540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242316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578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32888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Registro / Login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749040" y="2944368"/>
            <a:ext cx="777240" cy="0"/>
          </a:xfrm>
          <a:prstGeom prst="line">
            <a:avLst/>
          </a:prstGeom>
          <a:noFill/>
          <a:ln w="2540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26280" y="242316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0D1B3E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578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36008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Panel SPA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852160" y="2944368"/>
            <a:ext cx="777240" cy="0"/>
          </a:xfrm>
          <a:prstGeom prst="line">
            <a:avLst/>
          </a:prstGeom>
          <a:noFill/>
          <a:ln w="2540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29400" y="242316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578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39128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Catálogo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955280" y="2944368"/>
            <a:ext cx="594360" cy="0"/>
          </a:xfrm>
          <a:prstGeom prst="line">
            <a:avLst/>
          </a:prstGeom>
          <a:noFill/>
          <a:ln w="2540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242316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2578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59368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Carrito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875520" y="2944368"/>
            <a:ext cx="457200" cy="0"/>
          </a:xfrm>
          <a:prstGeom prst="line">
            <a:avLst/>
          </a:prstGeom>
          <a:noFill/>
          <a:ln w="2540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332720" y="242316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0" y="2578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442448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Orden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011680" y="4297680"/>
            <a:ext cx="8275320" cy="96012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5EC"/>
                </a:solidFill>
              </a:rPr>
              <a:t>La navegación interna funciona como SPA: el Router cambia la vista activa sin recargar el documento y los módulos mantienen responsabilidades separadas.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Arquitectura modular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51560" y="1554480"/>
            <a:ext cx="10058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719072"/>
            <a:ext cx="1828800" cy="493776"/>
          </a:xfrm>
          <a:prstGeom prst="roundRect">
            <a:avLst/>
          </a:prstGeom>
          <a:solidFill>
            <a:srgbClr val="0875EC"/>
          </a:solidFill>
          <a:ln w="12700">
            <a:solidFill>
              <a:srgbClr val="087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856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Interfaz / Views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37560" y="18013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1B3D"/>
                </a:solidFill>
              </a:rPr>
              <a:t>PanelApp · Router · Sidebar · ProfileView · ProductsView · CartView · OrdersView · Chatbot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51560" y="2788920"/>
            <a:ext cx="10058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953512"/>
            <a:ext cx="1828800" cy="493776"/>
          </a:xfrm>
          <a:prstGeom prst="roundRect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0906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Servicios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37560" y="30358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1B3D"/>
                </a:solidFill>
              </a:rPr>
              <a:t>AuthService · ClienteService · ProductService · StorageService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51560" y="4023360"/>
            <a:ext cx="10058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4187952"/>
            <a:ext cx="1828800" cy="493776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4325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Modelos POO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4270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1B3D"/>
                </a:solidFill>
              </a:rPr>
              <a:t>Cliente · Producto · Laptop · Smartphone · Accesorio · CarritoCompra · Orden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51560" y="5257800"/>
            <a:ext cx="10058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5422392"/>
            <a:ext cx="1828800" cy="493776"/>
          </a:xfrm>
          <a:prstGeom prst="roundRect">
            <a:avLst/>
          </a:prstGeom>
          <a:solidFill>
            <a:srgbClr val="F4A949"/>
          </a:solidFill>
          <a:ln w="12700">
            <a:solidFill>
              <a:srgbClr val="F4A9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55595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Persistencia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55046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1B3D"/>
                </a:solidFill>
              </a:rPr>
              <a:t>LocalStorage + productos.json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Diagrama de clases - núcleo POO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370832" y="164592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1801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5EC"/>
                </a:solidFill>
              </a:rPr>
              <a:t>Producto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90288" y="2167128"/>
            <a:ext cx="2560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01B3D"/>
                </a:solidFill>
              </a:rPr>
              <a:t>idProducto · nombre · descripción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1B3D"/>
                </a:solidFill>
              </a:rPr>
              <a:t>precio · stock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1B3D"/>
                </a:solidFill>
              </a:rPr>
              <a:t>mostrarInfo() · actualizarStock()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0050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Laptop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4379976"/>
            <a:ext cx="2103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389"/>
                </a:solidFill>
              </a:rPr>
              <a:t>procesador · memoriaRAM · almacenamiento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879592" y="3063240"/>
            <a:ext cx="-3849624" cy="777240"/>
          </a:xfrm>
          <a:prstGeom prst="line">
            <a:avLst/>
          </a:prstGeom>
          <a:noFill/>
          <a:ln w="25400">
            <a:solidFill>
              <a:srgbClr val="0875E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384048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40050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Smartphone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22192" y="4379976"/>
            <a:ext cx="2103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389"/>
                </a:solidFill>
              </a:rPr>
              <a:t>sistemaOperativo · tamañoPantalla · cámara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79592" y="3063240"/>
            <a:ext cx="-1014984" cy="777240"/>
          </a:xfrm>
          <a:prstGeom prst="line">
            <a:avLst/>
          </a:prstGeom>
          <a:noFill/>
          <a:ln w="25400">
            <a:solidFill>
              <a:srgbClr val="0875E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384048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40050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Accesorio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56832" y="4379976"/>
            <a:ext cx="2103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389"/>
                </a:solidFill>
              </a:rPr>
              <a:t>tipoAccesorio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79592" y="3063240"/>
            <a:ext cx="1819656" cy="777240"/>
          </a:xfrm>
          <a:prstGeom prst="line">
            <a:avLst/>
          </a:prstGeom>
          <a:noFill/>
          <a:ln w="25400">
            <a:solidFill>
              <a:srgbClr val="0875E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35440" y="384048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EAF9F6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AE9F"/>
                </a:solidFill>
              </a:rPr>
              <a:t>CarritoCompra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0" y="4352544"/>
            <a:ext cx="1737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01B3D"/>
                </a:solidFill>
              </a:rPr>
              <a:t>agregar · eliminar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01B3D"/>
                </a:solidFill>
              </a:rPr>
              <a:t>actualizarCantidad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01B3D"/>
                </a:solidFill>
              </a:rPr>
              <a:t>calcularTotal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406640" y="2331720"/>
            <a:ext cx="2377440" cy="1508760"/>
          </a:xfrm>
          <a:prstGeom prst="line">
            <a:avLst/>
          </a:prstGeom>
          <a:noFill/>
          <a:ln w="2540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63440" y="5440680"/>
            <a:ext cx="2468880" cy="731520"/>
          </a:xfrm>
          <a:prstGeom prst="roundRect">
            <a:avLst>
              <a:gd name="adj" fmla="val 15000"/>
            </a:avLst>
          </a:prstGeom>
          <a:solidFill>
            <a:srgbClr val="FFF5E6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5577840"/>
            <a:ext cx="2103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949"/>
                </a:solidFill>
              </a:rPr>
              <a:t>Orden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A949"/>
                </a:solidFill>
              </a:rPr>
              <a:t>generarOrden() · mostrarResumen()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287000" y="5074920"/>
            <a:ext cx="-3154680" cy="731520"/>
          </a:xfrm>
          <a:prstGeom prst="line">
            <a:avLst/>
          </a:prstGeom>
          <a:noFill/>
          <a:ln w="25400">
            <a:solidFill>
              <a:srgbClr val="F4A949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Cómo se evidencian los principios de POO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202996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0939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🧬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2029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Herencia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2331720"/>
            <a:ext cx="16002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Laptop, Smartphone y Accesorio reutilizan atributos y métodos definidos en Producto.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21608" y="202996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20939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2029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Polimorfismo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331720"/>
            <a:ext cx="16002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Cada subclase sobrescribe mostrarInfo() para exponer especificaciones particulares.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202996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0939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86600" y="2029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Encapsulación conceptual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2331720"/>
            <a:ext cx="16002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Cada clase concentra datos y operaciones relacionadas con una responsabilidad del dominio.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9098280" y="182880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9448" y="202996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4312" y="20939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🧩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875520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Separación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Modelos, servicios y vistas se dividen en archivos distintos para reducir acoplamiento.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1280160" y="4434840"/>
            <a:ext cx="9646920" cy="914400"/>
          </a:xfrm>
          <a:prstGeom prst="roundRect">
            <a:avLst>
              <a:gd name="adj" fmla="val NaN"/>
            </a:avLst>
          </a:prstGeom>
          <a:solidFill>
            <a:srgbClr val="0D1B3E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4718304"/>
            <a:ext cx="9006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Ejemplo de polimorfismo: ProductsView llama producto.mostrarInfo() sin necesitar saber si el objeto concreto es Laptop, Smartphone o Accesorio.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Datos y persistencia simulada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5E6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{}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productos.json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" y="3310128"/>
            <a:ext cx="1965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389"/>
                </a:solidFill>
              </a:rPr>
              <a:t>Catálogo externo editable sin modificar ProductsView.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246120" y="2880360"/>
            <a:ext cx="365760" cy="0"/>
          </a:xfrm>
          <a:prstGeom prst="line">
            <a:avLst/>
          </a:prstGeom>
          <a:noFill/>
          <a:ln w="2540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20116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ProductService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67912" y="3310128"/>
            <a:ext cx="1965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389"/>
                </a:solidFill>
              </a:rPr>
              <a:t>Lee JSON y crea instancias de Laptop, Smartphone o Accesorio.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080760" y="2880360"/>
            <a:ext cx="365760" cy="0"/>
          </a:xfrm>
          <a:prstGeom prst="line">
            <a:avLst/>
          </a:prstGeom>
          <a:noFill/>
          <a:ln w="2540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46520" y="20116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EAF9F6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LocalStorage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02552" y="3310128"/>
            <a:ext cx="1965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389"/>
                </a:solidFill>
              </a:rPr>
              <a:t>Clientes, sesión y carrito persistidos en el navegador.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915400" y="2880360"/>
            <a:ext cx="365760" cy="0"/>
          </a:xfrm>
          <a:prstGeom prst="line">
            <a:avLst/>
          </a:prstGeom>
          <a:noFill/>
          <a:ln w="2540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81160" y="20116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2EC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0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50976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StorageService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37192" y="3310128"/>
            <a:ext cx="1965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389"/>
                </a:solidFill>
              </a:rPr>
              <a:t>Único punto de acceso a la persistencia local.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1417320" y="4663440"/>
            <a:ext cx="9326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892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5EC"/>
                </a:solidFill>
              </a:rPr>
              <a:t>Ventaja: agregar nuevos productos se reduce a editar el JSON y asociar su imagen; la interfaz se genera dinámicamente con DOM.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Interfaz pública - landing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627632"/>
            <a:ext cx="10817352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pic>
        <p:nvPicPr>
          <p:cNvPr id="4" name="Image 0" descr="/mnt/data/techcart_assets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00784"/>
            <a:ext cx="10671048" cy="42885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" y="179222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3544" y="182880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LANDING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51560" y="61722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Página de entrada con catálogo destacado, categorías, buscador, carrito visual y llamadas a iniciar sesión o registrarse.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Acceso y autenticación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12618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El formulario guía al usuario y mantiene una identidad visual consistente con la tienda.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7772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pic>
        <p:nvPicPr>
          <p:cNvPr id="5" name="Image 0" descr="/mnt/data/techcart_assets/login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7626096" cy="43342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" y="18562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" y="189280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DESKTOP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732520" y="1691640"/>
            <a:ext cx="2423160" cy="44805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pic>
        <p:nvPicPr>
          <p:cNvPr id="9" name="Image 1" descr="/mnt/data/techcart_assets/login_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72" y="1764792"/>
            <a:ext cx="2276856" cy="43342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897112" y="18562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70264" y="189280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MÓVIL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Panel interno SPA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12618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Una sola página, varias vistas y navegación sin recarga.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7899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pic>
        <p:nvPicPr>
          <p:cNvPr id="5" name="Image 0" descr="/mnt/data/techcart_assets/panel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00784"/>
            <a:ext cx="10643616" cy="42885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" y="179222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3544" y="182880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DASHBOARD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Catálogo dinámico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12618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Los productos se renderizan desde objetos creados a partir de productos.json.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813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pic>
        <p:nvPicPr>
          <p:cNvPr id="5" name="Image 0" descr="/mnt/data/techcart_assets/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00784"/>
            <a:ext cx="10735056" cy="42885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79222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82880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CATÁLOGO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920240" y="6172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El contador del carrito se actualiza y la información permanece en LocalStorage.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Perfil y seguridad de cambios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12618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Los datos del cliente se sincronizan con la sesión y solo se editan después de verificar la contraseña actual.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795528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pic>
        <p:nvPicPr>
          <p:cNvPr id="5" name="Image 0" descr="/mnt/data/techcart_assets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92224"/>
            <a:ext cx="7808976" cy="41056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" y="188366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3544" y="192024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PERFIL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961120" y="1828800"/>
            <a:ext cx="2331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62288" y="202996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17152" y="20939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🔒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738360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Modo lectura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73836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Campos bloqueados hasta pulsar “Cambiar datos”.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8961120" y="3337560"/>
            <a:ext cx="2331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62288" y="353872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17152" y="36027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73836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Verificación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3836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SweetAlert2 solicita la contraseña actual antes de habilitar edición.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8961120" y="4846320"/>
            <a:ext cx="2331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62288" y="5047488"/>
            <a:ext cx="457200" cy="457200"/>
          </a:xfrm>
          <a:prstGeom prst="ellipse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17152" y="51114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🔑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738360" y="5047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Cambio de clave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738360" y="5349240"/>
            <a:ext cx="1371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89"/>
                </a:solidFill>
              </a:rPr>
              <a:t>La nueva contraseña se valida y se confirma antes de guardar.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TechBot y navegación guiada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D"/>
                </a:solidFill>
              </a:rPr>
              <a:t>Chat flotante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333756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00" dirty="0">
                <a:solidFill>
                  <a:srgbClr val="667389"/>
                </a:solidFill>
              </a:rPr>
              <a:t>Botón fijo en la esquina inferior derecha.</a:t>
            </a:r>
            <a:endParaRPr lang="en-US" sz="1000" dirty="0"/>
          </a:p>
          <a:p>
            <a:r>
              <a:rPr lang="en-US" sz="1000" dirty="0">
                <a:solidFill>
                  <a:srgbClr val="667389"/>
                </a:solidFill>
              </a:rPr>
              <a:t>Respuestas predeterminadas para productos, carrito, compras, envíos, pagos y perfil.</a:t>
            </a:r>
            <a:endParaRPr lang="en-US" sz="1000" dirty="0"/>
          </a:p>
          <a:p>
            <a:r>
              <a:rPr lang="en-US" sz="1000" dirty="0">
                <a:solidFill>
                  <a:srgbClr val="667389"/>
                </a:solidFill>
              </a:rPr>
              <a:t>Puede activar vistas del SPA mediante Router.</a:t>
            </a:r>
            <a:endParaRPr lang="en-US" sz="1000" dirty="0"/>
          </a:p>
          <a:p>
            <a:r>
              <a:rPr lang="en-US" sz="1000" dirty="0">
                <a:solidFill>
                  <a:srgbClr val="667389"/>
                </a:solidFill>
              </a:rPr>
              <a:t>Se adapta al ancho disponible en móvil.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57800" y="1828800"/>
            <a:ext cx="5486400" cy="3383280"/>
          </a:xfrm>
          <a:prstGeom prst="roundRect">
            <a:avLst>
              <a:gd name="adj" fmla="val NaN"/>
            </a:avLst>
          </a:prstGeom>
          <a:solidFill>
            <a:srgbClr val="0D1B3E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TechBot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98280" y="202996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5325E"/>
          </a:solidFill>
          <a:ln w="12700">
            <a:solidFill>
              <a:srgbClr val="1532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71432" y="20665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B7EEDD"/>
                </a:solidFill>
              </a:rPr>
              <a:t>● EN LÍNEA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577840" y="265176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27797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01B3D"/>
                </a:solidFill>
              </a:rPr>
              <a:t>👋 ¡Hola! Soy TechBot.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955280" y="265176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17325C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7797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💻 Ver productos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577840" y="333756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17325C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34655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🛒 Mi carrito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955280" y="333756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17325C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34655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📦 Mis compras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577840" y="402336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17325C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41513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🚚 Envíos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955280" y="402336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17325C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41513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💳 Métodos de pago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Diseño responsive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12618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9"/>
                </a:solidFill>
              </a:rPr>
              <a:t>La evaluación exige adaptación a escritorio, tablet y móvil; TechCart aplica breakpoints en landing, autenticación y panel.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pic>
        <p:nvPicPr>
          <p:cNvPr id="5" name="Image 0" descr="/mnt/data/techcart_assets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6232"/>
            <a:ext cx="5111496" cy="28712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198424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DESKTOP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492240" y="1600200"/>
            <a:ext cx="2331720" cy="4251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pic>
        <p:nvPicPr>
          <p:cNvPr id="9" name="Image 1" descr="/mnt/data/techcart_assets/login_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673352"/>
            <a:ext cx="2185416" cy="41056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56832" y="17647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729984" y="180136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MÓVIL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9144000" y="19202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00032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D"/>
                </a:solidFill>
              </a:rPr>
              <a:t>Comportamiento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372600" y="2697480"/>
            <a:ext cx="17373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00" dirty="0">
                <a:solidFill>
                  <a:srgbClr val="667389"/>
                </a:solidFill>
              </a:rPr>
              <a:t>Sidebar colapsable.</a:t>
            </a:r>
            <a:endParaRPr lang="en-US" sz="900" dirty="0"/>
          </a:p>
          <a:p>
            <a:r>
              <a:rPr lang="en-US" sz="900" dirty="0">
                <a:solidFill>
                  <a:srgbClr val="667389"/>
                </a:solidFill>
              </a:rPr>
              <a:t>Grid de productos adaptable.</a:t>
            </a:r>
            <a:endParaRPr lang="en-US" sz="900" dirty="0"/>
          </a:p>
          <a:p>
            <a:r>
              <a:rPr lang="en-US" sz="900" dirty="0">
                <a:solidFill>
                  <a:srgbClr val="667389"/>
                </a:solidFill>
              </a:rPr>
              <a:t>Formulario en una columna.</a:t>
            </a:r>
            <a:endParaRPr lang="en-US" sz="900" dirty="0"/>
          </a:p>
          <a:p>
            <a:r>
              <a:rPr lang="en-US" sz="900" dirty="0">
                <a:solidFill>
                  <a:srgbClr val="667389"/>
                </a:solidFill>
              </a:rPr>
              <a:t>Chat a ancho móvil.</a:t>
            </a:r>
            <a:endParaRPr lang="en-US" sz="900" dirty="0"/>
          </a:p>
          <a:p>
            <a:r>
              <a:rPr lang="en-US" sz="900" dirty="0">
                <a:solidFill>
                  <a:srgbClr val="667389"/>
                </a:solidFill>
              </a:rPr>
              <a:t>Sin desbordamiento horizontal.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Estructura del proyecto y responsabilidades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2423160" cy="44805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pic>
        <p:nvPicPr>
          <p:cNvPr id="4" name="Image 0" descr="/mnt/data/techcart_assets/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2276856" cy="43342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6112" y="17190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175564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INTELLIJ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566160" y="1737360"/>
            <a:ext cx="7543800" cy="804672"/>
          </a:xfrm>
          <a:prstGeom prst="roundRect">
            <a:avLst>
              <a:gd name="adj" fmla="val 13636"/>
            </a:avLst>
          </a:prstGeom>
          <a:solidFill>
            <a:srgbClr val="EAF4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0" y="19202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models/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66360" y="1901952"/>
            <a:ext cx="56235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Entidades y reglas del dominio: Cliente, Producto, subclases, CarritoCompra y Orden.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66160" y="2788920"/>
            <a:ext cx="7543800" cy="804672"/>
          </a:xfrm>
          <a:prstGeom prst="roundRect">
            <a:avLst>
              <a:gd name="adj" fmla="val 13636"/>
            </a:avLst>
          </a:prstGeom>
          <a:solidFill>
            <a:srgbClr val="EAF9F6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0" y="29718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services/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66360" y="2953512"/>
            <a:ext cx="56235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Persistencia, autenticación, cliente y carga del catálogo.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566160" y="3840480"/>
            <a:ext cx="7543800" cy="804672"/>
          </a:xfrm>
          <a:prstGeom prst="roundRect">
            <a:avLst>
              <a:gd name="adj" fmla="val 13636"/>
            </a:avLst>
          </a:prstGeom>
          <a:solidFill>
            <a:srgbClr val="F2EC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40233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panel/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66360" y="4005072"/>
            <a:ext cx="56235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Vistas SPA, Router, Sidebar, Chatbot y orquestación.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566160" y="4892040"/>
            <a:ext cx="7543800" cy="804672"/>
          </a:xfrm>
          <a:prstGeom prst="roundRect">
            <a:avLst>
              <a:gd name="adj" fmla="val 13636"/>
            </a:avLst>
          </a:prstGeom>
          <a:solidFill>
            <a:srgbClr val="FFF5E6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0" y="5074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data/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66360" y="5056632"/>
            <a:ext cx="56235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89"/>
                </a:solidFill>
              </a:rPr>
              <a:t>productos.json como fuente de catálogo.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566160" y="5486400"/>
            <a:ext cx="7543800" cy="530352"/>
          </a:xfrm>
          <a:prstGeom prst="roundRect">
            <a:avLst>
              <a:gd name="adj" fmla="val NaN"/>
            </a:avLst>
          </a:prstGeom>
          <a:solidFill>
            <a:srgbClr val="0D1B3E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0" y="5650992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Principio aplicado: una responsabilidad principal por módulo.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Alineación con la lista de chequeo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" y="181965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85623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99032" y="186537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Diseño moderno y navegación clara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19672" y="181965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85623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76872" y="186537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Responsive desktop / tablet / móvil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259689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6334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99032" y="264261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Registro, login y máximo tres intentos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355080" y="246888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9672" y="259689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26334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76872" y="264261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Modificación segura de datos del cliente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7240" y="324612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337413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4107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99032" y="341985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Catálogo con imagen, descripción y precio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55080" y="324612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9672" y="337413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34107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76872" y="341985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Agregar / modificar / eliminar del carrito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7240" y="402336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1832" y="415137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41879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99032" y="419709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Total actualizado en tiempo real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355080" y="402336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415137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6248" y="41879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76872" y="419709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Clases Producto, Cliente, CarritoCompra y Orden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77240" y="48006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1832" y="492861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" y="49651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399032" y="497433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Herencia: Laptop, Smartphone y Accesorio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355080" y="48006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9672" y="4928616"/>
            <a:ext cx="310896" cy="310896"/>
          </a:xfrm>
          <a:prstGeom prst="ellipse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49651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76872" y="497433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01B3D"/>
                </a:solidFill>
              </a:rPr>
              <a:t>Polimorfismo mediante mostrarInfo()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5325E"/>
          </a:solidFill>
          <a:ln w="12700">
            <a:solidFill>
              <a:srgbClr val="1532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859536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TECHCART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500" b="1" spc="200" kern="0" dirty="0">
                <a:solidFill>
                  <a:srgbClr val="FFFFFF"/>
                </a:solidFill>
              </a:rPr>
              <a:t>MUCHAS</a:t>
            </a:r>
            <a:endParaRPr lang="en-US" sz="45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500" b="1" spc="200" kern="0" dirty="0">
                <a:solidFill>
                  <a:srgbClr val="FFFFFF"/>
                </a:solidFill>
              </a:rPr>
              <a:t>GRACIAS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841248" y="3977640"/>
            <a:ext cx="5394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FE0F5"/>
                </a:solidFill>
              </a:rPr>
              <a:t>Una tienda tecnológica construida para demostrar POO, DOM, persistencia simulada y diseño responsive.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4846320"/>
            <a:ext cx="3383280" cy="0"/>
          </a:xfrm>
          <a:prstGeom prst="line">
            <a:avLst/>
          </a:prstGeom>
          <a:noFill/>
          <a:ln w="63500">
            <a:solidFill>
              <a:srgbClr val="13AE9F"/>
            </a:solidFill>
            <a:prstDash val="solid"/>
          </a:ln>
        </p:spPr>
      </p:sp>
      <p:pic>
        <p:nvPicPr>
          <p:cNvPr id="7" name="Image 0" descr="/mnt/data/escaparate_tecnológico_sobre_pedest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51560"/>
            <a:ext cx="4937760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5989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7D4"/>
                </a:solidFill>
              </a:rPr>
              <a:t>Proyecto Integrador - TechCart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TechCart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TechCart - Proyecto Integrador</dc:title>
  <dc:subject>Proyecto Integrador TechCart</dc:subject>
  <dc:creator>OpenAI</dc:creator>
  <cp:lastModifiedBy>OpenAI</cp:lastModifiedBy>
  <cp:revision>1</cp:revision>
  <dcterms:created xsi:type="dcterms:W3CDTF">2026-10-04T00:02:58Z</dcterms:created>
  <dcterms:modified xsi:type="dcterms:W3CDTF">2026-10-04T00:02:58Z</dcterms:modified>
</cp:coreProperties>
</file>