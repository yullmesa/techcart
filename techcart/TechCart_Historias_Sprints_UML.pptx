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TechCart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72600" y="256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5B6B82"/>
                </a:solidFill>
              </a:rPr>
              <a:t>PROYECTO INTEGRADOR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9672"/>
            <a:ext cx="1115568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A9D"/>
                </a:solidFill>
              </a:rPr>
              <a:t>TechCart | Aplicación web responsive con POO y SPA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731520"/>
            <a:ext cx="4206240" cy="4206240"/>
          </a:xfrm>
          <a:prstGeom prst="ellipse">
            <a:avLst/>
          </a:prstGeom>
          <a:solidFill>
            <a:srgbClr val="143260">
              <a:alpha val="80000"/>
            </a:srgbClr>
          </a:solidFill>
          <a:ln w="12700">
            <a:solidFill>
              <a:srgbClr val="14326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480560"/>
            <a:ext cx="2560320" cy="2560320"/>
          </a:xfrm>
          <a:prstGeom prst="ellipse">
            <a:avLst/>
          </a:prstGeom>
          <a:solidFill>
            <a:srgbClr val="13AE9F">
              <a:alpha val="65000"/>
            </a:srgbClr>
          </a:solidFill>
          <a:ln w="12700">
            <a:solidFill>
              <a:srgbClr val="13AE9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50" kern="0" dirty="0">
                <a:solidFill>
                  <a:srgbClr val="FFFFFF"/>
                </a:solidFill>
              </a:rPr>
              <a:t>TECHCART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Historias de usuario, sprints, arquitectura y UML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E7F6"/>
                </a:solidFill>
              </a:rPr>
              <a:t>Proyecto integrador - Marketplace tecnológico responsive con Programación Orientada a Objetos (POO), Single Page Application (SPA), persistencia local y chatbot de navegación.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4800600"/>
            <a:ext cx="2651760" cy="438912"/>
          </a:xfrm>
          <a:prstGeom prst="roundRect">
            <a:avLst>
              <a:gd name="adj" fmla="val 25000"/>
            </a:avLst>
          </a:prstGeom>
          <a:solidFill>
            <a:srgbClr val="0875EC"/>
          </a:solidFill>
          <a:ln w="12700">
            <a:solidFill>
              <a:srgbClr val="087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92861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DOCUMENTACIÓN FUNCIONAL Y TÉCNICA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378440" y="5806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1. Contexto del proyecto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TechCart simula la experiencia completa de una tienda tecnológica sin depender de backend ni pagos reales.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96796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5D68"/>
                </a:solidFill>
              </a:rPr>
              <a:t>PROBLEMA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06324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1B3D"/>
                </a:solidFill>
              </a:rPr>
              <a:t>Las tiendas de demostración suelen limitarse a una interfaz estática: no validan el acceso, no conservan el carrito, no modelan el dominio con POO y no separan correctamente las responsabilidades del código.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B3D"/>
                </a:solidFill>
              </a:rPr>
              <a:t>Riesgos principales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7365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• Experiencia poco realista.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5074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• Código difícil de mantener.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54132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• Baja demostración de POO.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508760"/>
            <a:ext cx="7269480" cy="4251960"/>
          </a:xfrm>
          <a:prstGeom prst="roundRect">
            <a:avLst>
              <a:gd name="adj" fmla="val 2581"/>
            </a:avLst>
          </a:prstGeom>
          <a:solidFill>
            <a:srgbClr val="EAF6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7373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79679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PROPUESTA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1B3D"/>
                </a:solidFill>
              </a:rPr>
              <a:t>TechCart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1B3D"/>
                </a:solidFill>
              </a:rPr>
              <a:t>TechCart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2724912"/>
            <a:ext cx="635508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1B3D"/>
                </a:solidFill>
              </a:rPr>
              <a:t>Marketplace académico con registro e inicio de sesión, panel SPA, catálogo cargado desde JSON, carrito persistente, modificación segura del perfil, órdenes, chatbot y diseño responsive.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3977640"/>
            <a:ext cx="3474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1B3D"/>
                </a:solidFill>
              </a:rPr>
              <a:t>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01768" y="3977640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Acceso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01768" y="4160520"/>
            <a:ext cx="1600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78D"/>
                </a:solidFill>
              </a:rPr>
              <a:t>Registro, login y sesión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3977640"/>
            <a:ext cx="3474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1B3D"/>
                </a:solidFill>
              </a:rPr>
              <a:t>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50608" y="3977640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Compra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50608" y="4160520"/>
            <a:ext cx="1600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78D"/>
                </a:solidFill>
              </a:rPr>
              <a:t>Catálogo + carrito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915400" y="3977640"/>
            <a:ext cx="3474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1B3D"/>
                </a:solidFill>
              </a:rPr>
              <a:t>🧩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99448" y="3977640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POO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99448" y="4160520"/>
            <a:ext cx="1600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78D"/>
                </a:solidFill>
              </a:rPr>
              <a:t>Modelos, herencia y servicios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17720" y="4818888"/>
            <a:ext cx="3474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1B3D"/>
                </a:solidFill>
              </a:rPr>
              <a:t>💬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01768" y="4818888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Soporte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01768" y="5001768"/>
            <a:ext cx="1600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78D"/>
                </a:solidFill>
              </a:rPr>
              <a:t>Chatbot predeterminado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66560" y="4818888"/>
            <a:ext cx="3474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1B3D"/>
                </a:solidFill>
              </a:rPr>
              <a:t>📱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50608" y="4818888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UX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50608" y="5001768"/>
            <a:ext cx="1600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78D"/>
                </a:solidFill>
              </a:rPr>
              <a:t>Responsive en desktop/tablet/móvil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915400" y="4818888"/>
            <a:ext cx="3474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1B3D"/>
                </a:solidFill>
              </a:rPr>
              <a:t>💾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99448" y="4818888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Persistencia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99448" y="5001768"/>
            <a:ext cx="1600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78D"/>
                </a:solidFill>
              </a:rPr>
              <a:t>JSON + LocalStorage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2. Épica e historia pivote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La épica agrupa el valor global; la historia pivote conecta los flujos más importantes del MVP.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EAF6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842516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ÉPICA E-01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457200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1B3D"/>
                </a:solidFill>
              </a:rPr>
              <a:t>Experiencia integral de compra tecnológica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1B3D"/>
                </a:solidFill>
              </a:rPr>
              <a:t>Como cliente de TechCart, quiero registrarme, explorar el catálogo, administrar un carrito y generar una orden, para realizar una compra tecnológica completa desde una interfaz clara y segura.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1920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75EC"/>
                </a:solidFill>
              </a:rPr>
              <a:t>Valor de negocio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• Demuestra el flujo end-to-end.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52852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• Integra POO, DOM, persistencia y UX.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E8F8F4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1783080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D6F5EE"/>
          </a:solidFill>
          <a:ln w="12700">
            <a:solidFill>
              <a:srgbClr val="D6F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1842516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AE9F"/>
                </a:solidFill>
              </a:rPr>
              <a:t>HISTORIA PIVOTE HU-05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37960" y="2212848"/>
            <a:ext cx="44805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B3D"/>
                </a:solidFill>
              </a:rPr>
              <a:t>Gestionar un carrito persistente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37960" y="2880360"/>
            <a:ext cx="438912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1B3D"/>
                </a:solidFill>
              </a:rPr>
              <a:t>Como cliente autenticado, quiero agregar productos, cambiar cantidades, eliminar artículos y conservar el carrito aunque recargue la página, para controlar mi compra antes de generar la orden.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37960" y="4590288"/>
            <a:ext cx="1920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AE9F"/>
                </a:solidFill>
              </a:rPr>
              <a:t>¿Por qué es pivote?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49194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8778D"/>
                </a:solidFill>
              </a:rPr>
              <a:t>• Conecta catálogo, sesión, LocalStorage y orden.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6583680" y="52669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8778D"/>
                </a:solidFill>
              </a:rPr>
              <a:t>• Es el núcleo transaccional del marketplace.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3. Backlog de historias de usuario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Formato: Como [rol], quiero [acción], para [beneficio].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44752"/>
            <a:ext cx="11018520" cy="438912"/>
          </a:xfrm>
          <a:prstGeom prst="roundRect">
            <a:avLst>
              <a:gd name="adj" fmla="val 125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27048"/>
            <a:ext cx="6400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08760" y="1527048"/>
            <a:ext cx="1234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Historia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71800" y="1527048"/>
            <a:ext cx="72237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Descripción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1527048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Prioridad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901952"/>
            <a:ext cx="110185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011680"/>
            <a:ext cx="640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75EC"/>
                </a:solidFill>
              </a:rPr>
              <a:t>HU-01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08760" y="1993392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1B3D"/>
                </a:solidFill>
              </a:rPr>
              <a:t>Registro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971800" y="1956816"/>
            <a:ext cx="7269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8778D"/>
                </a:solidFill>
              </a:rPr>
              <a:t>Como visitante, quiero crear una cuenta con mis datos para acceder a la tienda.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10652760" y="200253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52760" y="2043684"/>
            <a:ext cx="65836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5EC"/>
                </a:solidFill>
              </a:rPr>
              <a:t>Must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594360" y="2359152"/>
            <a:ext cx="11018520" cy="457200"/>
          </a:xfrm>
          <a:prstGeom prst="rect">
            <a:avLst/>
          </a:prstGeom>
          <a:solidFill>
            <a:srgbClr val="F1F5FA"/>
          </a:solidFill>
          <a:ln w="7620">
            <a:solidFill>
              <a:srgbClr val="DEE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468880"/>
            <a:ext cx="640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75EC"/>
                </a:solidFill>
              </a:rPr>
              <a:t>HU-02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08760" y="2450592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1B3D"/>
                </a:solidFill>
              </a:rPr>
              <a:t>Inicio de sesión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2971800" y="2414016"/>
            <a:ext cx="7269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8778D"/>
                </a:solidFill>
              </a:rPr>
              <a:t>Como cliente, quiero iniciar sesión con máximo tres intentos fallidos para proteger mi cuenta.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10652760" y="245973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52760" y="2500884"/>
            <a:ext cx="65836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5EC"/>
                </a:solidFill>
              </a:rPr>
              <a:t>Must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594360" y="2816352"/>
            <a:ext cx="110185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2926080"/>
            <a:ext cx="640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75EC"/>
                </a:solidFill>
              </a:rPr>
              <a:t>HU-03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08760" y="2907792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1B3D"/>
                </a:solidFill>
              </a:rPr>
              <a:t>Perfil seguro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2971800" y="2871216"/>
            <a:ext cx="7269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8778D"/>
                </a:solidFill>
              </a:rPr>
              <a:t>Como cliente, quiero modificar mis datos y contraseña tras verificar mi clave actual.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10652760" y="291693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52760" y="2958084"/>
            <a:ext cx="65836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5EC"/>
                </a:solidFill>
              </a:rPr>
              <a:t>Must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594360" y="3273552"/>
            <a:ext cx="11018520" cy="457200"/>
          </a:xfrm>
          <a:prstGeom prst="rect">
            <a:avLst/>
          </a:prstGeom>
          <a:solidFill>
            <a:srgbClr val="F1F5FA"/>
          </a:solidFill>
          <a:ln w="7620">
            <a:solidFill>
              <a:srgbClr val="DE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3383280"/>
            <a:ext cx="640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75EC"/>
                </a:solidFill>
              </a:rPr>
              <a:t>HU-04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08760" y="3364992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1B3D"/>
                </a:solidFill>
              </a:rPr>
              <a:t>Catálogo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2971800" y="3328416"/>
            <a:ext cx="7269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8778D"/>
                </a:solidFill>
              </a:rPr>
              <a:t>Como cliente, quiero explorar productos por categoría y búsqueda para encontrar lo que necesito.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10652760" y="337413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52760" y="3415284"/>
            <a:ext cx="65836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5EC"/>
                </a:solidFill>
              </a:rPr>
              <a:t>Must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594360" y="3730752"/>
            <a:ext cx="110185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" y="3840480"/>
            <a:ext cx="640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75EC"/>
                </a:solidFill>
              </a:rPr>
              <a:t>HU-05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508760" y="3822192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1B3D"/>
                </a:solidFill>
              </a:rPr>
              <a:t>Carrito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2971800" y="3785616"/>
            <a:ext cx="7269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8778D"/>
                </a:solidFill>
              </a:rPr>
              <a:t>Como cliente, quiero administrar un carrito persistente para preparar mi compra.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10652760" y="383133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52760" y="3872484"/>
            <a:ext cx="65836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5EC"/>
                </a:solidFill>
              </a:rPr>
              <a:t>Must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594360" y="4187952"/>
            <a:ext cx="11018520" cy="457200"/>
          </a:xfrm>
          <a:prstGeom prst="rect">
            <a:avLst/>
          </a:prstGeom>
          <a:solidFill>
            <a:srgbClr val="F1F5FA"/>
          </a:solidFill>
          <a:ln w="7620">
            <a:solidFill>
              <a:srgbClr val="DEE6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" y="4297680"/>
            <a:ext cx="640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75EC"/>
                </a:solidFill>
              </a:rPr>
              <a:t>HU-06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508760" y="4279392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1B3D"/>
                </a:solidFill>
              </a:rPr>
              <a:t>Orden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2971800" y="4242816"/>
            <a:ext cx="7269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8778D"/>
                </a:solidFill>
              </a:rPr>
              <a:t>Como cliente, quiero confirmar la compra y generar una orden con total y productos.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10652760" y="428853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52760" y="4329684"/>
            <a:ext cx="65836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5EC"/>
                </a:solidFill>
              </a:rPr>
              <a:t>Must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594360" y="4645152"/>
            <a:ext cx="110185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" y="4754880"/>
            <a:ext cx="640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75EC"/>
                </a:solidFill>
              </a:rPr>
              <a:t>HU-07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508760" y="4736592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1B3D"/>
                </a:solidFill>
              </a:rPr>
              <a:t>Historial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2971800" y="4700016"/>
            <a:ext cx="7269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8778D"/>
                </a:solidFill>
              </a:rPr>
              <a:t>Como cliente, quiero consultar mis compras para revisar órdenes anteriores.</a:t>
            </a:r>
            <a:endParaRPr lang="en-US" sz="770" dirty="0"/>
          </a:p>
        </p:txBody>
      </p:sp>
      <p:sp>
        <p:nvSpPr>
          <p:cNvPr id="49" name="Shape 47"/>
          <p:cNvSpPr/>
          <p:nvPr/>
        </p:nvSpPr>
        <p:spPr>
          <a:xfrm>
            <a:off x="10652760" y="474573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E1F8F3"/>
          </a:solidFill>
          <a:ln w="12700">
            <a:solidFill>
              <a:srgbClr val="E1F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52760" y="4786884"/>
            <a:ext cx="65836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3AE9F"/>
                </a:solidFill>
              </a:rPr>
              <a:t>Should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594360" y="5102352"/>
            <a:ext cx="11018520" cy="457200"/>
          </a:xfrm>
          <a:prstGeom prst="rect">
            <a:avLst/>
          </a:prstGeom>
          <a:solidFill>
            <a:srgbClr val="F1F5FA"/>
          </a:solidFill>
          <a:ln w="7620">
            <a:solidFill>
              <a:srgbClr val="DEE6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4088" y="5212080"/>
            <a:ext cx="640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75EC"/>
                </a:solidFill>
              </a:rPr>
              <a:t>HU-08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508760" y="5193792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1B3D"/>
                </a:solidFill>
              </a:rPr>
              <a:t>Chatbot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2971800" y="5157216"/>
            <a:ext cx="7269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8778D"/>
                </a:solidFill>
              </a:rPr>
              <a:t>Como cliente, quiero usar un asistente con respuestas rápidas para navegar y resolver dudas.</a:t>
            </a:r>
            <a:endParaRPr lang="en-US" sz="770" dirty="0"/>
          </a:p>
        </p:txBody>
      </p:sp>
      <p:sp>
        <p:nvSpPr>
          <p:cNvPr id="55" name="Shape 53"/>
          <p:cNvSpPr/>
          <p:nvPr/>
        </p:nvSpPr>
        <p:spPr>
          <a:xfrm>
            <a:off x="10652760" y="520293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E1F8F3"/>
          </a:solidFill>
          <a:ln w="12700">
            <a:solidFill>
              <a:srgbClr val="E1F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52760" y="5244084"/>
            <a:ext cx="65836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3AE9F"/>
                </a:solidFill>
              </a:rPr>
              <a:t>Should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594360" y="5559552"/>
            <a:ext cx="1101852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EE6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088" y="5669280"/>
            <a:ext cx="640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75EC"/>
                </a:solidFill>
              </a:rPr>
              <a:t>HU-09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508760" y="5650992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1B3D"/>
                </a:solidFill>
              </a:rPr>
              <a:t>Responsive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2971800" y="5614416"/>
            <a:ext cx="7269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8778D"/>
                </a:solidFill>
              </a:rPr>
              <a:t>Como usuario móvil, quiero usar TechCart sin perder funciones en pantallas pequeñas.</a:t>
            </a:r>
            <a:endParaRPr lang="en-US" sz="770" dirty="0"/>
          </a:p>
        </p:txBody>
      </p:sp>
      <p:sp>
        <p:nvSpPr>
          <p:cNvPr id="61" name="Shape 59"/>
          <p:cNvSpPr/>
          <p:nvPr/>
        </p:nvSpPr>
        <p:spPr>
          <a:xfrm>
            <a:off x="10652760" y="566013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652760" y="5701284"/>
            <a:ext cx="65836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5EC"/>
                </a:solidFill>
              </a:rPr>
              <a:t>Must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594360" y="6016752"/>
            <a:ext cx="11018520" cy="457200"/>
          </a:xfrm>
          <a:prstGeom prst="rect">
            <a:avLst/>
          </a:prstGeom>
          <a:solidFill>
            <a:srgbClr val="F1F5FA"/>
          </a:solidFill>
          <a:ln w="7620">
            <a:solidFill>
              <a:srgbClr val="DEE6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4088" y="6126480"/>
            <a:ext cx="640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875EC"/>
                </a:solidFill>
              </a:rPr>
              <a:t>HU-10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508760" y="6108192"/>
            <a:ext cx="12344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1B3D"/>
                </a:solidFill>
              </a:rPr>
              <a:t>Cerrar sesión</a:t>
            </a:r>
            <a:endParaRPr lang="en-US" sz="860" dirty="0"/>
          </a:p>
        </p:txBody>
      </p:sp>
      <p:sp>
        <p:nvSpPr>
          <p:cNvPr id="66" name="Text 64"/>
          <p:cNvSpPr/>
          <p:nvPr/>
        </p:nvSpPr>
        <p:spPr>
          <a:xfrm>
            <a:off x="2971800" y="6071616"/>
            <a:ext cx="7269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8778D"/>
                </a:solidFill>
              </a:rPr>
              <a:t>Como cliente, quiero cerrar sesión y proteger mis datos al terminar.</a:t>
            </a:r>
            <a:endParaRPr lang="en-US" sz="770" dirty="0"/>
          </a:p>
        </p:txBody>
      </p:sp>
      <p:sp>
        <p:nvSpPr>
          <p:cNvPr id="67" name="Shape 65"/>
          <p:cNvSpPr/>
          <p:nvPr/>
        </p:nvSpPr>
        <p:spPr>
          <a:xfrm>
            <a:off x="10652760" y="6117336"/>
            <a:ext cx="658368" cy="237744"/>
          </a:xfrm>
          <a:prstGeom prst="roundRect">
            <a:avLst>
              <a:gd name="adj" fmla="val 46154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652760" y="6158484"/>
            <a:ext cx="65836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75EC"/>
                </a:solidFill>
              </a:rPr>
              <a:t>Must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4. Criterios de aceptación clave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Los criterios hacen verificable cada historia y evitan que una función se considere terminada solo por “verse bien”.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4564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70992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69364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HU-02 · Login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" y="2221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Valida usuario/correo y contraseña.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850392" y="26243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Bloquea después de 3 intentos fallidos.</a:t>
            </a:r>
            <a:endParaRPr lang="en-US" sz="910" dirty="0"/>
          </a:p>
        </p:txBody>
      </p:sp>
      <p:sp>
        <p:nvSpPr>
          <p:cNvPr id="9" name="Text 7"/>
          <p:cNvSpPr/>
          <p:nvPr/>
        </p:nvSpPr>
        <p:spPr>
          <a:xfrm>
            <a:off x="850392" y="3026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Guarda la sesión y redirige al panel.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4325112" y="1508760"/>
            <a:ext cx="34564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70992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769364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HU-03 · Perfil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81144" y="2221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Campos bloqueados inicialmente.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4581144" y="26243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Solicita contraseña actual para habilitar edición.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4581144" y="3026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Actualiza cliente y sesión en LocalStorage.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8055864" y="1508760"/>
            <a:ext cx="34564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7032" y="170992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E1F8F3"/>
          </a:solidFill>
          <a:ln w="12700">
            <a:solidFill>
              <a:srgbClr val="E1F8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0184" y="1769364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AE9F"/>
                </a:solidFill>
              </a:rPr>
              <a:t>HU-05 · Carrito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11896" y="2221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Agregar incrementa el contador.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8311896" y="26243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Permite +, -, eliminar y recalcular total.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8311896" y="3026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Persiste tras recargar la página.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594360" y="3749040"/>
            <a:ext cx="3456432" cy="1965960"/>
          </a:xfrm>
          <a:prstGeom prst="roundRect">
            <a:avLst>
              <a:gd name="adj" fmla="val 5581"/>
            </a:avLst>
          </a:prstGeom>
          <a:solidFill>
            <a:srgbClr val="F9FBFD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5528" y="39502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009644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HU-06 · Orden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" y="44622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Se genera solo con carrito no vacío.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850392" y="48646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Conserva fecha, cliente, productos y total.</a:t>
            </a:r>
            <a:endParaRPr lang="en-US" sz="910" dirty="0"/>
          </a:p>
        </p:txBody>
      </p:sp>
      <p:sp>
        <p:nvSpPr>
          <p:cNvPr id="27" name="Text 25"/>
          <p:cNvSpPr/>
          <p:nvPr/>
        </p:nvSpPr>
        <p:spPr>
          <a:xfrm>
            <a:off x="850392" y="52669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Vacía el carrito después de confirmar.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4325112" y="3749040"/>
            <a:ext cx="3456432" cy="1965960"/>
          </a:xfrm>
          <a:prstGeom prst="roundRect">
            <a:avLst>
              <a:gd name="adj" fmla="val 5581"/>
            </a:avLst>
          </a:prstGeom>
          <a:solidFill>
            <a:srgbClr val="F9FBFD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26280" y="39502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9432" y="4009644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HU-08 · Chatbot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81144" y="44622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Botón flotante disponible en la SPA.</a:t>
            </a:r>
            <a:endParaRPr lang="en-US" sz="910" dirty="0"/>
          </a:p>
        </p:txBody>
      </p:sp>
      <p:sp>
        <p:nvSpPr>
          <p:cNvPr id="32" name="Text 30"/>
          <p:cNvSpPr/>
          <p:nvPr/>
        </p:nvSpPr>
        <p:spPr>
          <a:xfrm>
            <a:off x="4581144" y="48646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Respuestas predeterminadas según opción.</a:t>
            </a:r>
            <a:endParaRPr lang="en-US" sz="910" dirty="0"/>
          </a:p>
        </p:txBody>
      </p:sp>
      <p:sp>
        <p:nvSpPr>
          <p:cNvPr id="33" name="Text 31"/>
          <p:cNvSpPr/>
          <p:nvPr/>
        </p:nvSpPr>
        <p:spPr>
          <a:xfrm>
            <a:off x="4581144" y="52669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Puede navegar a productos, carrito, perfil y compras.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8055864" y="3749040"/>
            <a:ext cx="3456432" cy="1965960"/>
          </a:xfrm>
          <a:prstGeom prst="roundRect">
            <a:avLst>
              <a:gd name="adj" fmla="val 5581"/>
            </a:avLst>
          </a:prstGeom>
          <a:solidFill>
            <a:srgbClr val="F9FBFD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57032" y="39502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0184" y="4009644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HU-09 · Responsive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11896" y="44622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Sidebar colapsa en tablet/móvil.</a:t>
            </a:r>
            <a:endParaRPr lang="en-US" sz="910" dirty="0"/>
          </a:p>
        </p:txBody>
      </p:sp>
      <p:sp>
        <p:nvSpPr>
          <p:cNvPr id="38" name="Text 36"/>
          <p:cNvSpPr/>
          <p:nvPr/>
        </p:nvSpPr>
        <p:spPr>
          <a:xfrm>
            <a:off x="8311896" y="48646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Formularios y tarjetas se adaptan.</a:t>
            </a:r>
            <a:endParaRPr lang="en-US" sz="910" dirty="0"/>
          </a:p>
        </p:txBody>
      </p:sp>
      <p:sp>
        <p:nvSpPr>
          <p:cNvPr id="39" name="Text 37"/>
          <p:cNvSpPr/>
          <p:nvPr/>
        </p:nvSpPr>
        <p:spPr>
          <a:xfrm>
            <a:off x="8311896" y="52669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68778D"/>
                </a:solidFill>
              </a:rPr>
              <a:t>• No hay scroll horizontal no intencional.</a:t>
            </a:r>
            <a:endParaRPr lang="en-US" sz="9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5. Plan de sprints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Estimación académica: 4 sprints de 1 semana (5 días hábiles) = aproximadamente 4 semanas.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2542032" cy="4160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72768"/>
            <a:ext cx="2542032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38528"/>
            <a:ext cx="1371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SPRINT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B3D"/>
                </a:solidFill>
              </a:rPr>
              <a:t>Acceso y base técnica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95528" y="29626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DF3FF"/>
          </a:solidFill>
          <a:ln w="12700">
            <a:solidFill>
              <a:srgbClr val="EDF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22092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5 días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392" y="35387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Estructura del proyecto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50392" y="4014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Registro + login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50392" y="44897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LocalStorage y sesión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50392" y="49651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Perfil básico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95528" y="5230368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8778D"/>
                </a:solidFill>
              </a:rPr>
              <a:t>Entregable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95528" y="5458968"/>
            <a:ext cx="21031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Usuario autenticado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3447288"/>
            <a:ext cx="201168" cy="0"/>
          </a:xfrm>
          <a:prstGeom prst="line">
            <a:avLst/>
          </a:prstGeom>
          <a:noFill/>
          <a:ln w="15240">
            <a:solidFill>
              <a:srgbClr val="AAB8C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64992" y="1572768"/>
            <a:ext cx="2542032" cy="4160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64992" y="1572768"/>
            <a:ext cx="2542032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938528"/>
            <a:ext cx="1371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SPRINT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B3D"/>
                </a:solidFill>
              </a:rPr>
              <a:t>Catálogo y POO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566160" y="29626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DF3FF"/>
          </a:solidFill>
          <a:ln w="12700">
            <a:solidFill>
              <a:srgbClr val="EDF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9312" y="3022092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5 días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21024" y="35387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Producto + herencia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621024" y="4014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JSON de productos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3621024" y="44897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ProductService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621024" y="49651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Búsqueda/categorías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3566160" y="5230368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8778D"/>
                </a:solidFill>
              </a:rPr>
              <a:t>Entregable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66160" y="5458968"/>
            <a:ext cx="21031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Catálogo dinámico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25312" y="3447288"/>
            <a:ext cx="201168" cy="0"/>
          </a:xfrm>
          <a:prstGeom prst="line">
            <a:avLst/>
          </a:prstGeom>
          <a:noFill/>
          <a:ln w="15240">
            <a:solidFill>
              <a:srgbClr val="AAB8C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35624" y="1572768"/>
            <a:ext cx="2542032" cy="4160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35624" y="1572768"/>
            <a:ext cx="2542032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1938528"/>
            <a:ext cx="1371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SPRINT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36792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B3D"/>
                </a:solidFill>
              </a:rPr>
              <a:t>Carrito y órdenes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336792" y="29626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DF3FF"/>
          </a:solidFill>
          <a:ln w="12700">
            <a:solidFill>
              <a:srgbClr val="EDF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3022092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5 días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91656" y="35387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CarritoCompra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6391656" y="4014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Persistencia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391656" y="44897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Cantidades y total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6391656" y="49651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Orden + historial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6336792" y="5230368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8778D"/>
                </a:solidFill>
              </a:rPr>
              <a:t>Entregable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36792" y="5458968"/>
            <a:ext cx="21031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Compra funcional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695944" y="3447288"/>
            <a:ext cx="201168" cy="0"/>
          </a:xfrm>
          <a:prstGeom prst="line">
            <a:avLst/>
          </a:prstGeom>
          <a:noFill/>
          <a:ln w="15240">
            <a:solidFill>
              <a:srgbClr val="AAB8C8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906256" y="1572768"/>
            <a:ext cx="2542032" cy="4160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906256" y="1572768"/>
            <a:ext cx="2542032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07424" y="1938528"/>
            <a:ext cx="13716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SPRINT 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107424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B3D"/>
                </a:solidFill>
              </a:rPr>
              <a:t>SPA, UX y cierre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9107424" y="29626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DF3FF"/>
          </a:solidFill>
          <a:ln w="12700">
            <a:solidFill>
              <a:srgbClr val="EDF3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80576" y="3022092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5 días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162288" y="35387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Router + sidebar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9162288" y="4014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Chatbot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9162288" y="44897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Responsive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9162288" y="49651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8778D"/>
                </a:solidFill>
              </a:rPr>
              <a:t>• QA + documentación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9107424" y="5230368"/>
            <a:ext cx="8229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8778D"/>
                </a:solidFill>
              </a:rPr>
              <a:t>Entregable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107424" y="5458968"/>
            <a:ext cx="21031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Aplicación integrada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58368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8778D"/>
                </a:solidFill>
              </a:rPr>
              <a:t>Nota: la duración puede variar según el alcance final del curso, pruebas y correcciones solicitadas.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6. Arquitectura de TechCart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Arquitectura modular en tres capas: interfaz SPA, lógica de aplicación/POO y persistencia local.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8778D"/>
                </a:solidFill>
              </a:rPr>
              <a:t>CAPA SUPERIOR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0" y="1444752"/>
            <a:ext cx="9692640" cy="1143000"/>
          </a:xfrm>
          <a:prstGeom prst="roundRect">
            <a:avLst>
              <a:gd name="adj" fmla="val 6400"/>
            </a:avLst>
          </a:prstGeom>
          <a:solidFill>
            <a:srgbClr val="E8F2FF"/>
          </a:solidFill>
          <a:ln w="16510">
            <a:solidFill>
              <a:srgbClr val="087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1591056"/>
            <a:ext cx="9052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D"/>
                </a:solidFill>
              </a:rPr>
              <a:t>Interfaz de usuario (UI)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57400" y="1947672"/>
            <a:ext cx="90525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HTML · CSS responsive · SPA · SweetAlert2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172968"/>
            <a:ext cx="12344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8778D"/>
                </a:solidFill>
              </a:rPr>
              <a:t>CAPA INTERMEDIA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2880360"/>
            <a:ext cx="9692640" cy="1645920"/>
          </a:xfrm>
          <a:prstGeom prst="roundRect">
            <a:avLst>
              <a:gd name="adj" fmla="val 4444"/>
            </a:avLst>
          </a:prstGeom>
          <a:solidFill>
            <a:srgbClr val="E8F8F4"/>
          </a:solidFill>
          <a:ln w="16510">
            <a:solidFill>
              <a:srgbClr val="13AE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026664"/>
            <a:ext cx="9052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D"/>
                </a:solidFill>
              </a:rPr>
              <a:t>Módulos y lógica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57400" y="3383280"/>
            <a:ext cx="90525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Views · Router · Services · Models POO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5276088"/>
            <a:ext cx="12344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8778D"/>
                </a:solidFill>
              </a:rPr>
              <a:t>CAPA INFERIOR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4983480"/>
            <a:ext cx="9692640" cy="1143000"/>
          </a:xfrm>
          <a:prstGeom prst="roundRect">
            <a:avLst>
              <a:gd name="adj" fmla="val 6400"/>
            </a:avLst>
          </a:prstGeom>
          <a:solidFill>
            <a:srgbClr val="FFF3DB"/>
          </a:solidFill>
          <a:ln w="16510">
            <a:solidFill>
              <a:srgbClr val="FFB4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5129784"/>
            <a:ext cx="9052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D"/>
                </a:solidFill>
              </a:rPr>
              <a:t>Persistencia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57400" y="5486400"/>
            <a:ext cx="90525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productos.json · LocalStorage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3703320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F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67128" y="3776472"/>
            <a:ext cx="13716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1B3D"/>
                </a:solidFill>
              </a:rPr>
              <a:t>Router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167128" y="3986784"/>
            <a:ext cx="137160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8778D"/>
                </a:solidFill>
              </a:rPr>
              <a:t>Navegación SPA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3886200" y="3703320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FD6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0208" y="3776472"/>
            <a:ext cx="13716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1B3D"/>
                </a:solidFill>
              </a:rPr>
              <a:t>ProfileView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950208" y="3986784"/>
            <a:ext cx="137160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8778D"/>
                </a:solidFill>
              </a:rPr>
              <a:t>Perfil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5669280" y="3703320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FD6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33288" y="3776472"/>
            <a:ext cx="13716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1B3D"/>
                </a:solidFill>
              </a:rPr>
              <a:t>ProductsView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733288" y="3986784"/>
            <a:ext cx="137160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8778D"/>
                </a:solidFill>
              </a:rPr>
              <a:t>Catálogo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7452360" y="3703320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FD6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3776472"/>
            <a:ext cx="13716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1B3D"/>
                </a:solidFill>
              </a:rPr>
              <a:t>CartView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516368" y="3986784"/>
            <a:ext cx="137160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8778D"/>
                </a:solidFill>
              </a:rPr>
              <a:t>Carrito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9235440" y="3703320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FD6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99448" y="3776472"/>
            <a:ext cx="13716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1B3D"/>
                </a:solidFill>
              </a:rPr>
              <a:t>Chatbot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9299448" y="3986784"/>
            <a:ext cx="137160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8778D"/>
                </a:solidFill>
              </a:rPr>
              <a:t>Asistente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2743200" y="2587752"/>
            <a:ext cx="0" cy="320040"/>
          </a:xfrm>
          <a:prstGeom prst="line">
            <a:avLst/>
          </a:prstGeom>
          <a:noFill/>
          <a:ln w="12700">
            <a:solidFill>
              <a:srgbClr val="8AA0B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72000" y="2587752"/>
            <a:ext cx="0" cy="320040"/>
          </a:xfrm>
          <a:prstGeom prst="line">
            <a:avLst/>
          </a:prstGeom>
          <a:noFill/>
          <a:ln w="12700">
            <a:solidFill>
              <a:srgbClr val="8AA0BA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00800" y="2587752"/>
            <a:ext cx="0" cy="320040"/>
          </a:xfrm>
          <a:prstGeom prst="line">
            <a:avLst/>
          </a:prstGeom>
          <a:noFill/>
          <a:ln w="12700">
            <a:solidFill>
              <a:srgbClr val="8AA0B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229600" y="2587752"/>
            <a:ext cx="0" cy="320040"/>
          </a:xfrm>
          <a:prstGeom prst="line">
            <a:avLst/>
          </a:prstGeom>
          <a:noFill/>
          <a:ln w="12700">
            <a:solidFill>
              <a:srgbClr val="8AA0BA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58400" y="2587752"/>
            <a:ext cx="0" cy="320040"/>
          </a:xfrm>
          <a:prstGeom prst="line">
            <a:avLst/>
          </a:prstGeom>
          <a:noFill/>
          <a:ln w="12700">
            <a:solidFill>
              <a:srgbClr val="8AA0BA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743200" y="4572000"/>
            <a:ext cx="0" cy="429768"/>
          </a:xfrm>
          <a:prstGeom prst="line">
            <a:avLst/>
          </a:prstGeom>
          <a:noFill/>
          <a:ln w="12700">
            <a:solidFill>
              <a:srgbClr val="8AA0BA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572000" y="4572000"/>
            <a:ext cx="0" cy="429768"/>
          </a:xfrm>
          <a:prstGeom prst="line">
            <a:avLst/>
          </a:prstGeom>
          <a:noFill/>
          <a:ln w="12700">
            <a:solidFill>
              <a:srgbClr val="8AA0BA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00800" y="4572000"/>
            <a:ext cx="0" cy="429768"/>
          </a:xfrm>
          <a:prstGeom prst="line">
            <a:avLst/>
          </a:prstGeom>
          <a:noFill/>
          <a:ln w="12700">
            <a:solidFill>
              <a:srgbClr val="8AA0BA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229600" y="4572000"/>
            <a:ext cx="0" cy="429768"/>
          </a:xfrm>
          <a:prstGeom prst="line">
            <a:avLst/>
          </a:prstGeom>
          <a:noFill/>
          <a:ln w="12700">
            <a:solidFill>
              <a:srgbClr val="8AA0BA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058400" y="4572000"/>
            <a:ext cx="0" cy="429768"/>
          </a:xfrm>
          <a:prstGeom prst="line">
            <a:avLst/>
          </a:prstGeom>
          <a:noFill/>
          <a:ln w="12700">
            <a:solidFill>
              <a:srgbClr val="8AA0BA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7. Diagrama UML de clases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Modelo de dominio principal y relaciones implementadas en TechCart.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240280" cy="237744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5240">
            <a:solidFill>
              <a:srgbClr val="087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240280" cy="384048"/>
          </a:xfrm>
          <a:prstGeom prst="rect">
            <a:avLst/>
          </a:prstGeom>
          <a:solidFill>
            <a:srgbClr val="0875EC"/>
          </a:solidFill>
          <a:ln w="12700">
            <a:solidFill>
              <a:srgbClr val="087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" y="1892808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id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576072" y="2084832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nombre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576072" y="2276856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correo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76072" y="2468880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direccionEnvio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76072" y="2660904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usuario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76072" y="2852928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password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57784" y="3063240"/>
            <a:ext cx="2130552" cy="0"/>
          </a:xfrm>
          <a:prstGeom prst="line">
            <a:avLst/>
          </a:prstGeom>
          <a:noFill/>
          <a:ln w="8890">
            <a:solidFill>
              <a:srgbClr val="DE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154680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registrar()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76072" y="3346704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iniciarSesion()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76072" y="3538728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modificarDatos()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3703320" y="1325880"/>
            <a:ext cx="2240280" cy="25146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5240">
            <a:solidFill>
              <a:srgbClr val="526C8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3320" y="1325880"/>
            <a:ext cx="2240280" cy="384048"/>
          </a:xfrm>
          <a:prstGeom prst="rect">
            <a:avLst/>
          </a:prstGeom>
          <a:solidFill>
            <a:srgbClr val="526C8D"/>
          </a:solidFill>
          <a:ln w="12700">
            <a:solidFill>
              <a:srgbClr val="526C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417320"/>
            <a:ext cx="2148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76472" y="1801368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idProducto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3776472" y="1993392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nombre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776472" y="2185416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descripcion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776472" y="2377440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precio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776472" y="2569464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stock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776472" y="2761488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imagen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3776472" y="2953512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categoria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3758184" y="3163824"/>
            <a:ext cx="2130552" cy="0"/>
          </a:xfrm>
          <a:prstGeom prst="line">
            <a:avLst/>
          </a:prstGeom>
          <a:noFill/>
          <a:ln w="8890">
            <a:solidFill>
              <a:srgbClr val="DE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76472" y="3255264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mostrarInfo()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3776472" y="3447288"/>
            <a:ext cx="209397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actualizarStock()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788920" y="4251960"/>
            <a:ext cx="196596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240">
            <a:solidFill>
              <a:srgbClr val="13AE9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88920" y="4251960"/>
            <a:ext cx="1965960" cy="384048"/>
          </a:xfrm>
          <a:prstGeom prst="rect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4343400"/>
            <a:ext cx="1874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Laptop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62072" y="4727448"/>
            <a:ext cx="18196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procesador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862072" y="4919472"/>
            <a:ext cx="18196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memoriaRAM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2862072" y="5111496"/>
            <a:ext cx="18196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almacenamiento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843784" y="5321808"/>
            <a:ext cx="1856232" cy="0"/>
          </a:xfrm>
          <a:prstGeom prst="line">
            <a:avLst/>
          </a:prstGeom>
          <a:noFill/>
          <a:ln w="8890">
            <a:solidFill>
              <a:srgbClr val="DE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62072" y="5413248"/>
            <a:ext cx="18196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mostrarInfo()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892040" y="4251960"/>
            <a:ext cx="196596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240">
            <a:solidFill>
              <a:srgbClr val="13AE9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92040" y="4251960"/>
            <a:ext cx="1965960" cy="384048"/>
          </a:xfrm>
          <a:prstGeom prst="rect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343400"/>
            <a:ext cx="1874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Smartphone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65192" y="4727448"/>
            <a:ext cx="18196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sistemaOperativo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965192" y="4919472"/>
            <a:ext cx="18196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pantalla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4965192" y="5111496"/>
            <a:ext cx="18196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camara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4946904" y="5321808"/>
            <a:ext cx="1856232" cy="0"/>
          </a:xfrm>
          <a:prstGeom prst="line">
            <a:avLst/>
          </a:prstGeom>
          <a:noFill/>
          <a:ln w="8890">
            <a:solidFill>
              <a:srgbClr val="DE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65192" y="5413248"/>
            <a:ext cx="18196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mostrarInfo()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6995160" y="4251960"/>
            <a:ext cx="196596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240">
            <a:solidFill>
              <a:srgbClr val="13AE9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95160" y="4251960"/>
            <a:ext cx="1965960" cy="384048"/>
          </a:xfrm>
          <a:prstGeom prst="rect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0" y="4343400"/>
            <a:ext cx="18745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Accesorio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68312" y="4727448"/>
            <a:ext cx="18196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tipoAccesorio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7050024" y="4937760"/>
            <a:ext cx="1856232" cy="0"/>
          </a:xfrm>
          <a:prstGeom prst="line">
            <a:avLst/>
          </a:prstGeom>
          <a:noFill/>
          <a:ln w="8890">
            <a:solidFill>
              <a:srgbClr val="DE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68312" y="5029200"/>
            <a:ext cx="181965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mostrarInfo()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7543800" y="1417320"/>
            <a:ext cx="2057400" cy="2148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7A5AF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43800" y="1417320"/>
            <a:ext cx="2057400" cy="384048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1508760"/>
            <a:ext cx="19659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CarritoCompra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616952" y="1892808"/>
            <a:ext cx="19110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listaProductos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7598664" y="2103120"/>
            <a:ext cx="1947672" cy="0"/>
          </a:xfrm>
          <a:prstGeom prst="line">
            <a:avLst/>
          </a:prstGeom>
          <a:noFill/>
          <a:ln w="8890">
            <a:solidFill>
              <a:srgbClr val="DEE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16952" y="2194560"/>
            <a:ext cx="19110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agregarProducto()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7616952" y="2386584"/>
            <a:ext cx="19110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eliminarProducto()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7616952" y="2578608"/>
            <a:ext cx="19110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actualizarCantidad()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616952" y="2770632"/>
            <a:ext cx="19110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calcularTotal()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7616952" y="2962656"/>
            <a:ext cx="19110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cantidadTotal()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9829800" y="1417320"/>
            <a:ext cx="1828800" cy="2148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FFB44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29800" y="1417320"/>
            <a:ext cx="1828800" cy="384048"/>
          </a:xfrm>
          <a:prstGeom prst="rect">
            <a:avLst/>
          </a:prstGeom>
          <a:solidFill>
            <a:srgbClr val="FFB44B"/>
          </a:solidFill>
          <a:ln w="12700">
            <a:solidFill>
              <a:srgbClr val="FFB44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75520" y="1508760"/>
            <a:ext cx="17373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Orden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902952" y="1892808"/>
            <a:ext cx="16824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idOrden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9902952" y="2084832"/>
            <a:ext cx="16824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fecha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9902952" y="2276856"/>
            <a:ext cx="16824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productos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9902952" y="2468880"/>
            <a:ext cx="16824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total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9902952" y="2660904"/>
            <a:ext cx="16824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estado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9884664" y="2871216"/>
            <a:ext cx="1719072" cy="0"/>
          </a:xfrm>
          <a:prstGeom prst="line">
            <a:avLst/>
          </a:prstGeom>
          <a:noFill/>
          <a:ln w="8890">
            <a:solidFill>
              <a:srgbClr val="DEE6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02952" y="2962656"/>
            <a:ext cx="16824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generarOrden()</a:t>
            </a:r>
            <a:endParaRPr lang="en-US" sz="720" dirty="0"/>
          </a:p>
        </p:txBody>
      </p:sp>
      <p:sp>
        <p:nvSpPr>
          <p:cNvPr id="72" name="Text 70"/>
          <p:cNvSpPr/>
          <p:nvPr/>
        </p:nvSpPr>
        <p:spPr>
          <a:xfrm>
            <a:off x="9902952" y="3154680"/>
            <a:ext cx="1682496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01B3D"/>
                </a:solidFill>
              </a:rPr>
              <a:t>mostrarResumen()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3749040" y="4251960"/>
            <a:ext cx="685800" cy="-365760"/>
          </a:xfrm>
          <a:prstGeom prst="line">
            <a:avLst/>
          </a:prstGeom>
          <a:noFill/>
          <a:ln w="1524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870448" y="4251960"/>
            <a:ext cx="-749808" cy="-365760"/>
          </a:xfrm>
          <a:prstGeom prst="line">
            <a:avLst/>
          </a:prstGeom>
          <a:noFill/>
          <a:ln w="1524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7973568" y="4251960"/>
            <a:ext cx="-2212848" cy="-548640"/>
          </a:xfrm>
          <a:prstGeom prst="line">
            <a:avLst/>
          </a:prstGeom>
          <a:noFill/>
          <a:ln w="1524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6172200" y="3822192"/>
            <a:ext cx="1005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3AE9F"/>
                </a:solidFill>
              </a:rPr>
              <a:t>HERENCIA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743200" y="2560320"/>
            <a:ext cx="4800600" cy="0"/>
          </a:xfrm>
          <a:prstGeom prst="line">
            <a:avLst/>
          </a:prstGeom>
          <a:noFill/>
          <a:ln w="13970">
            <a:solidFill>
              <a:srgbClr val="7D8FA8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4572000" y="2340864"/>
            <a:ext cx="1097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8778D"/>
                </a:solidFill>
              </a:rPr>
              <a:t>1  posee  1</a:t>
            </a:r>
            <a:endParaRPr lang="en-US" sz="730" dirty="0"/>
          </a:p>
        </p:txBody>
      </p:sp>
      <p:sp>
        <p:nvSpPr>
          <p:cNvPr id="79" name="Shape 77"/>
          <p:cNvSpPr/>
          <p:nvPr/>
        </p:nvSpPr>
        <p:spPr>
          <a:xfrm>
            <a:off x="9601200" y="2468880"/>
            <a:ext cx="228600" cy="0"/>
          </a:xfrm>
          <a:prstGeom prst="line">
            <a:avLst/>
          </a:prstGeom>
          <a:noFill/>
          <a:ln w="13970">
            <a:solidFill>
              <a:srgbClr val="7D8FA8"/>
            </a:solidFill>
            <a:prstDash val="solid"/>
            <a:headEnd type="none"/>
            <a:tailEnd type="triangle"/>
          </a:ln>
        </p:spPr>
      </p:sp>
      <p:sp>
        <p:nvSpPr>
          <p:cNvPr id="80" name="Text 78"/>
          <p:cNvSpPr/>
          <p:nvPr/>
        </p:nvSpPr>
        <p:spPr>
          <a:xfrm>
            <a:off x="9491472" y="2212848"/>
            <a:ext cx="6400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genera</a:t>
            </a:r>
            <a:endParaRPr lang="en-US" sz="720" dirty="0"/>
          </a:p>
        </p:txBody>
      </p:sp>
      <p:sp>
        <p:nvSpPr>
          <p:cNvPr id="81" name="Shape 79"/>
          <p:cNvSpPr/>
          <p:nvPr/>
        </p:nvSpPr>
        <p:spPr>
          <a:xfrm>
            <a:off x="8549640" y="3566160"/>
            <a:ext cx="-2560320" cy="685800"/>
          </a:xfrm>
          <a:prstGeom prst="line">
            <a:avLst/>
          </a:prstGeom>
          <a:noFill/>
          <a:ln w="13970">
            <a:solidFill>
              <a:srgbClr val="7D8FA8"/>
            </a:solidFill>
            <a:prstDash val="solid"/>
            <a:headEnd type="none"/>
            <a:tailEnd type="triangle"/>
          </a:ln>
        </p:spPr>
      </p:sp>
      <p:sp>
        <p:nvSpPr>
          <p:cNvPr id="82" name="Text 80"/>
          <p:cNvSpPr/>
          <p:nvPr/>
        </p:nvSpPr>
        <p:spPr>
          <a:xfrm>
            <a:off x="6766560" y="3703320"/>
            <a:ext cx="10972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8778D"/>
                </a:solidFill>
              </a:rPr>
              <a:t>contiene 0..*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8. Diagrama de secuencia - agregar producto al carrito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Flujo principal de la historia pivote HU-05.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27048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Cliente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" y="1810512"/>
            <a:ext cx="0" cy="4114800"/>
          </a:xfrm>
          <a:prstGeom prst="line">
            <a:avLst/>
          </a:prstGeom>
          <a:noFill/>
          <a:ln w="12700">
            <a:solidFill>
              <a:srgbClr val="A8B5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141732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527048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ProductsView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810512"/>
            <a:ext cx="0" cy="4114800"/>
          </a:xfrm>
          <a:prstGeom prst="line">
            <a:avLst/>
          </a:prstGeom>
          <a:noFill/>
          <a:ln w="12700">
            <a:solidFill>
              <a:srgbClr val="A8B5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141732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527048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CarritoCompra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0" y="1810512"/>
            <a:ext cx="0" cy="4114800"/>
          </a:xfrm>
          <a:prstGeom prst="line">
            <a:avLst/>
          </a:prstGeom>
          <a:noFill/>
          <a:ln w="12700">
            <a:solidFill>
              <a:srgbClr val="A8B5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141732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1527048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StorageService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46720" y="1810512"/>
            <a:ext cx="0" cy="4114800"/>
          </a:xfrm>
          <a:prstGeom prst="line">
            <a:avLst/>
          </a:prstGeom>
          <a:noFill/>
          <a:ln w="12700">
            <a:solidFill>
              <a:srgbClr val="A8B5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55480" y="141732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1527048"/>
            <a:ext cx="10972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LocalStorage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149840" y="1810512"/>
            <a:ext cx="0" cy="4114800"/>
          </a:xfrm>
          <a:prstGeom prst="line">
            <a:avLst/>
          </a:prstGeom>
          <a:noFill/>
          <a:ln w="12700">
            <a:solidFill>
              <a:srgbClr val="A8B5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2148840"/>
            <a:ext cx="2377440" cy="0"/>
          </a:xfrm>
          <a:prstGeom prst="line">
            <a:avLst/>
          </a:prstGeom>
          <a:noFill/>
          <a:ln w="13970">
            <a:solidFill>
              <a:srgbClr val="0875EC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51560" y="1965960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1B3D"/>
                </a:solidFill>
              </a:rPr>
              <a:t>1. Clic “Agregar al carrito”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2743200"/>
            <a:ext cx="2377440" cy="0"/>
          </a:xfrm>
          <a:prstGeom prst="line">
            <a:avLst/>
          </a:prstGeom>
          <a:noFill/>
          <a:ln w="13970">
            <a:solidFill>
              <a:srgbClr val="0875EC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429000" y="2560320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1B3D"/>
                </a:solidFill>
              </a:rPr>
              <a:t>2. agregarProducto(producto)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69280" y="3246120"/>
            <a:ext cx="-2377440" cy="0"/>
          </a:xfrm>
          <a:prstGeom prst="line">
            <a:avLst/>
          </a:prstGeom>
          <a:noFill/>
          <a:ln w="1397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429000" y="3063240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1B3D"/>
                </a:solidFill>
              </a:rPr>
              <a:t>3. carrito actualizado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91840" y="3767328"/>
            <a:ext cx="4754880" cy="0"/>
          </a:xfrm>
          <a:prstGeom prst="line">
            <a:avLst/>
          </a:prstGeom>
          <a:noFill/>
          <a:ln w="13970">
            <a:solidFill>
              <a:srgbClr val="0875EC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429000" y="3584448"/>
            <a:ext cx="44805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1B3D"/>
                </a:solidFill>
              </a:rPr>
              <a:t>4. saveCart(listaProductos)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046720" y="4279392"/>
            <a:ext cx="2103120" cy="0"/>
          </a:xfrm>
          <a:prstGeom prst="line">
            <a:avLst/>
          </a:prstGeom>
          <a:noFill/>
          <a:ln w="13970">
            <a:solidFill>
              <a:srgbClr val="0875EC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183880" y="4096512"/>
            <a:ext cx="18288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1B3D"/>
                </a:solidFill>
              </a:rPr>
              <a:t>5. setItem("techCartCarrito")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0149840" y="4736592"/>
            <a:ext cx="-2103120" cy="0"/>
          </a:xfrm>
          <a:prstGeom prst="line">
            <a:avLst/>
          </a:prstGeom>
          <a:noFill/>
          <a:ln w="1397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183880" y="4553712"/>
            <a:ext cx="182880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1B3D"/>
                </a:solidFill>
              </a:rPr>
              <a:t>6. persistencia OK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046720" y="5193792"/>
            <a:ext cx="-4754880" cy="0"/>
          </a:xfrm>
          <a:prstGeom prst="line">
            <a:avLst/>
          </a:prstGeom>
          <a:noFill/>
          <a:ln w="1397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429000" y="5010912"/>
            <a:ext cx="448056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1B3D"/>
                </a:solidFill>
              </a:rPr>
              <a:t>7. emitir cart-updated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91840" y="5650992"/>
            <a:ext cx="-2377440" cy="0"/>
          </a:xfrm>
          <a:prstGeom prst="line">
            <a:avLst/>
          </a:prstGeom>
          <a:noFill/>
          <a:ln w="1397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51560" y="5468112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1B3D"/>
                </a:solidFill>
              </a:rPr>
              <a:t>8. SweetAlert + contador actualizado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9. Flujo funcional de la aplicación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El usuario avanza desde la zona pública hasta la compra sin abandonar el mismo ecosistema visual.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94560"/>
            <a:ext cx="109728" cy="914400"/>
          </a:xfrm>
          <a:prstGeom prst="rect">
            <a:avLst/>
          </a:prstGeom>
          <a:solidFill>
            <a:srgbClr val="0875EC"/>
          </a:solidFill>
          <a:ln w="12700">
            <a:solidFill>
              <a:srgbClr val="087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340864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B3D"/>
                </a:solidFill>
              </a:rPr>
              <a:t>Landing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670048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8778D"/>
                </a:solidFill>
              </a:rPr>
              <a:t>Página pública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0" y="219456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0" y="2194560"/>
            <a:ext cx="109728" cy="914400"/>
          </a:xfrm>
          <a:prstGeom prst="rect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2340864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B3D"/>
                </a:solidFill>
              </a:rPr>
              <a:t>Registro / Login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44368" y="2670048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8778D"/>
                </a:solidFill>
              </a:rPr>
              <a:t>Autenticación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37760" y="219456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2194560"/>
            <a:ext cx="109728" cy="9144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2340864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B3D"/>
                </a:solidFill>
              </a:rPr>
              <a:t>Panel SPA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38928" y="2670048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8778D"/>
                </a:solidFill>
              </a:rPr>
              <a:t>Inicio privado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040880" y="14173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417320"/>
            <a:ext cx="109728" cy="914400"/>
          </a:xfrm>
          <a:prstGeom prst="rect">
            <a:avLst/>
          </a:prstGeom>
          <a:solidFill>
            <a:srgbClr val="0875EC"/>
          </a:solidFill>
          <a:ln w="12700">
            <a:solidFill>
              <a:srgbClr val="087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1563624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B3D"/>
                </a:solidFill>
              </a:rPr>
              <a:t>Catálogo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42048" y="1892808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8778D"/>
                </a:solidFill>
              </a:rPr>
              <a:t>JSON + POO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40880" y="297180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2971800"/>
            <a:ext cx="109728" cy="914400"/>
          </a:xfrm>
          <a:prstGeom prst="rect">
            <a:avLst/>
          </a:prstGeom>
          <a:solidFill>
            <a:srgbClr val="13AE9F"/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3118104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B3D"/>
                </a:solidFill>
              </a:rPr>
              <a:t>Carrito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42048" y="3447288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8778D"/>
                </a:solidFill>
              </a:rPr>
              <a:t>Persistente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235440" y="297180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35440" y="2971800"/>
            <a:ext cx="109728" cy="914400"/>
          </a:xfrm>
          <a:prstGeom prst="rect">
            <a:avLst/>
          </a:prstGeom>
          <a:solidFill>
            <a:srgbClr val="FFB44B"/>
          </a:solidFill>
          <a:ln w="12700">
            <a:solidFill>
              <a:srgbClr val="FFB4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36608" y="3118104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B3D"/>
                </a:solidFill>
              </a:rPr>
              <a:t>Orden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36608" y="3447288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8778D"/>
                </a:solidFill>
              </a:rPr>
              <a:t>Confirmación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235440" y="14173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35440" y="1417320"/>
            <a:ext cx="109728" cy="9144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36608" y="1563624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1B3D"/>
                </a:solidFill>
              </a:rPr>
              <a:t>Perfil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36608" y="1892808"/>
            <a:ext cx="1325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8778D"/>
                </a:solidFill>
              </a:rPr>
              <a:t>Datos seguros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23160" y="2651760"/>
            <a:ext cx="320040" cy="0"/>
          </a:xfrm>
          <a:prstGeom prst="line">
            <a:avLst/>
          </a:prstGeom>
          <a:noFill/>
          <a:ln w="19050">
            <a:solidFill>
              <a:srgbClr val="0875EC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434840" y="2651760"/>
            <a:ext cx="502920" cy="0"/>
          </a:xfrm>
          <a:prstGeom prst="line">
            <a:avLst/>
          </a:prstGeom>
          <a:noFill/>
          <a:ln w="1905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29400" y="2651760"/>
            <a:ext cx="411480" cy="-777240"/>
          </a:xfrm>
          <a:prstGeom prst="line">
            <a:avLst/>
          </a:prstGeom>
          <a:noFill/>
          <a:ln w="16510">
            <a:solidFill>
              <a:srgbClr val="7A5AF8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629400" y="2651760"/>
            <a:ext cx="411480" cy="777240"/>
          </a:xfrm>
          <a:prstGeom prst="line">
            <a:avLst/>
          </a:prstGeom>
          <a:noFill/>
          <a:ln w="16510">
            <a:solidFill>
              <a:srgbClr val="7A5AF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732520" y="3429000"/>
            <a:ext cx="502920" cy="0"/>
          </a:xfrm>
          <a:prstGeom prst="line">
            <a:avLst/>
          </a:prstGeom>
          <a:noFill/>
          <a:ln w="19050">
            <a:solidFill>
              <a:srgbClr val="13AE9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732520" y="1874520"/>
            <a:ext cx="502920" cy="0"/>
          </a:xfrm>
          <a:prstGeom prst="line">
            <a:avLst/>
          </a:prstGeom>
          <a:noFill/>
          <a:ln w="19050">
            <a:solidFill>
              <a:srgbClr val="0875EC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58400" y="2331720"/>
            <a:ext cx="-2011680" cy="640080"/>
          </a:xfrm>
          <a:prstGeom prst="line">
            <a:avLst/>
          </a:prstGeom>
          <a:noFill/>
          <a:ln w="12700">
            <a:solidFill>
              <a:srgbClr val="8AA0BA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2103120" y="4892040"/>
            <a:ext cx="81381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Chatbot disponible en todo el panel: navega, orienta y responde dudas frecuentes.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154680" y="5486400"/>
            <a:ext cx="6035040" cy="502920"/>
          </a:xfrm>
          <a:prstGeom prst="roundRect">
            <a:avLst>
              <a:gd name="adj" fmla="val 21818"/>
            </a:avLst>
          </a:prstGeom>
          <a:solidFill>
            <a:srgbClr val="E9F6FF"/>
          </a:solidFill>
          <a:ln w="12700">
            <a:solidFill>
              <a:srgbClr val="B8D9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5650992"/>
            <a:ext cx="557784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5EC"/>
                </a:solidFill>
              </a:rPr>
              <a:t>💬 TechBot → Productos · Carrito · Compras · Envíos · Pagos · Perfil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10. Diseño de interfaz - zona pública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La referencia visual se traduce a una identidad propia de TechCart: azul, turquesa, tarjetas limpias y jerarquía clara.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69037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Landing / página pública</a:t>
            </a:r>
            <a:endParaRPr lang="en-US" sz="1200" dirty="0"/>
          </a:p>
        </p:txBody>
      </p:sp>
      <p:pic>
        <p:nvPicPr>
          <p:cNvPr id="6" name="Image 0" descr="/mnt/data/techcart_assets/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644652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508760"/>
            <a:ext cx="3886200" cy="452628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73568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Login responsive</a:t>
            </a:r>
            <a:endParaRPr lang="en-US" sz="1200" dirty="0"/>
          </a:p>
        </p:txBody>
      </p:sp>
      <p:pic>
        <p:nvPicPr>
          <p:cNvPr id="9" name="Image 1" descr="/mnt/data/techcart_assets/login_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148840"/>
            <a:ext cx="2331720" cy="1783080"/>
          </a:xfrm>
          <a:prstGeom prst="rect">
            <a:avLst/>
          </a:prstGeom>
        </p:spPr>
      </p:pic>
      <p:pic>
        <p:nvPicPr>
          <p:cNvPr id="10" name="Image 2" descr="/mnt/data/techcart_assets/login_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993392"/>
            <a:ext cx="868680" cy="2971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503920" y="41605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577072" y="4219956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DESKTOP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10378440" y="510235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1F8F3"/>
          </a:solidFill>
          <a:ln w="12700">
            <a:solidFill>
              <a:srgbClr val="E1F8F3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0451592" y="5161788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AE9F"/>
                </a:solidFill>
              </a:rPr>
              <a:t>MÓVIL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11. Diseño de interfaz - SPA interna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Sidebar, panel, catálogo y perfil comparten navegación y componentes visuales.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5321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691640"/>
            <a:ext cx="520293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Inicio del panel</a:t>
            </a:r>
            <a:endParaRPr lang="en-US" sz="1000" dirty="0"/>
          </a:p>
        </p:txBody>
      </p:sp>
      <p:pic>
        <p:nvPicPr>
          <p:cNvPr id="6" name="Image 0" descr="/mnt/data/techcart_assets/panel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93392"/>
            <a:ext cx="5202936" cy="1453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55448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19672" y="1691640"/>
            <a:ext cx="492861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Catálogo</a:t>
            </a:r>
            <a:endParaRPr lang="en-US" sz="1000" dirty="0"/>
          </a:p>
        </p:txBody>
      </p:sp>
      <p:pic>
        <p:nvPicPr>
          <p:cNvPr id="9" name="Image 1" descr="/mnt/data/techcart_assets/cat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993392"/>
            <a:ext cx="4928616" cy="14538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4360" y="393192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58952" y="4069080"/>
            <a:ext cx="520293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Perfil de usuario</a:t>
            </a:r>
            <a:endParaRPr lang="en-US" sz="1000" dirty="0"/>
          </a:p>
        </p:txBody>
      </p:sp>
      <p:pic>
        <p:nvPicPr>
          <p:cNvPr id="12" name="Image 2" descr="/mnt/data/techcart_assets/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370832"/>
            <a:ext cx="5202936" cy="131673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355080" y="39319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519672" y="4069080"/>
            <a:ext cx="492861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B3D"/>
                </a:solidFill>
              </a:rPr>
              <a:t>Carrito y catálogo dinámico</a:t>
            </a:r>
            <a:endParaRPr lang="en-US" sz="1000" dirty="0"/>
          </a:p>
        </p:txBody>
      </p:sp>
      <p:pic>
        <p:nvPicPr>
          <p:cNvPr id="15" name="Image 3" descr="/mnt/data/image(20261003-233746)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370832"/>
            <a:ext cx="4928616" cy="1316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12. Responsive y experiencia de usuario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La interfaz se adapta a escritorio, tablet y móvil; los componentes prioritarios cambian de disposición sin perder funcionalidad.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749040" cy="45262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Móvil</a:t>
            </a:r>
            <a:endParaRPr lang="en-US" sz="1200" dirty="0"/>
          </a:p>
        </p:txBody>
      </p:sp>
      <p:pic>
        <p:nvPicPr>
          <p:cNvPr id="6" name="Image 0" descr="/mnt/data/techcart_assets/login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965960"/>
            <a:ext cx="210312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1508760"/>
            <a:ext cx="3154680" cy="4526280"/>
          </a:xfrm>
          <a:prstGeom prst="roundRect">
            <a:avLst>
              <a:gd name="adj" fmla="val 3478"/>
            </a:avLst>
          </a:prstGeom>
          <a:solidFill>
            <a:srgbClr val="EAF6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28032" y="1755648"/>
            <a:ext cx="2468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75EC"/>
                </a:solidFill>
              </a:rPr>
              <a:t>Reglas de adaptación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92040" y="22402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• Sidebar → menú hamburguesa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92040" y="277063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• Grids de 4 columnas → 1/2 columnas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92040" y="330098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• Formularios → una columna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92040" y="38313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• Chatbot → ventana compacta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92040" y="4361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• Sin scroll horizontal accidental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92040" y="4892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78D"/>
                </a:solidFill>
              </a:rPr>
              <a:t>• Botones táctiles y textos legibles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55280" y="1508760"/>
            <a:ext cx="365760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11312" y="1755648"/>
            <a:ext cx="2103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B3D"/>
                </a:solidFill>
              </a:rPr>
              <a:t>Criterio técnico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11312" y="2240280"/>
            <a:ext cx="29260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AE9F"/>
                </a:solidFill>
              </a:rPr>
              <a:t>Media queries + layout flexible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11312" y="2788920"/>
            <a:ext cx="283464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1B3D"/>
                </a:solidFill>
              </a:rPr>
              <a:t>El objetivo no es “encoger” el desktop, sino reorganizar la información según el espacio disponible y mantener visibles las acciones principales.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0" y="43434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02752" y="440283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75EC"/>
                </a:solidFill>
              </a:rPr>
              <a:t>DESKTOP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9326880" y="43434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FEAFF"/>
          </a:solidFill>
          <a:ln w="12700">
            <a:solidFill>
              <a:srgbClr val="EFEA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00032" y="440283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AF8"/>
                </a:solidFill>
              </a:rPr>
              <a:t>TABLET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424160" y="43434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1F8F3"/>
          </a:solidFill>
          <a:ln w="12700">
            <a:solidFill>
              <a:srgbClr val="E1F8F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497312" y="4402836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AE9F"/>
                </a:solidFill>
              </a:rPr>
              <a:t>MÓVIL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D"/>
                </a:solidFill>
              </a:rPr>
              <a:t>13. Definición de terminado (Definition of Done)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8D"/>
                </a:solidFill>
              </a:rPr>
              <a:t>Cada historia solo se considera cerrada cuando cumple funcionalidad, persistencia, interfaz y prueba básica.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1B3D"/>
                </a:solidFill>
              </a:rPr>
              <a:t>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44168" y="1655064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B3D"/>
                </a:solidFill>
              </a:rPr>
              <a:t>Funcionalidad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44168" y="1920240"/>
            <a:ext cx="41605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78D"/>
                </a:solidFill>
              </a:rPr>
              <a:t>La historia cumple sus criterios de aceptación.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2512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1B3D"/>
                </a:solidFill>
              </a:rPr>
              <a:t>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76288" y="1655064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B3D"/>
                </a:solidFill>
              </a:rPr>
              <a:t>POO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76288" y="1920240"/>
            <a:ext cx="41605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78D"/>
                </a:solidFill>
              </a:rPr>
              <a:t>La lógica se ubica en modelos/servicios y no se duplica.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85800" y="2651760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1B3D"/>
                </a:solidFill>
              </a:rPr>
              <a:t>💾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44168" y="2798064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B3D"/>
                </a:solidFill>
              </a:rPr>
              <a:t>Persistencia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44168" y="3063240"/>
            <a:ext cx="41605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78D"/>
                </a:solidFill>
              </a:rPr>
              <a:t>Los datos relevantes sobreviven a recargas cuando aplica.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217920" y="2651760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2512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1B3D"/>
                </a:solidFill>
              </a:rPr>
              <a:t>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76288" y="2798064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B3D"/>
                </a:solidFill>
              </a:rPr>
              <a:t>Interfaz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76288" y="3063240"/>
            <a:ext cx="41605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78D"/>
                </a:solidFill>
              </a:rPr>
              <a:t>SweetAlert2, estados vacíos y feedback visual correctos.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85800" y="3794760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0392" y="3959352"/>
            <a:ext cx="4114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1B3D"/>
                </a:solidFill>
              </a:rPr>
              <a:t>📱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44168" y="3941064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B3D"/>
                </a:solidFill>
              </a:rPr>
              <a:t>Responsive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44168" y="4206240"/>
            <a:ext cx="41605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78D"/>
                </a:solidFill>
              </a:rPr>
              <a:t>Desktop, tablet y móvil sin desbordes.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217920" y="3794760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82512" y="3959352"/>
            <a:ext cx="4114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1B3D"/>
                </a:solidFill>
              </a:rPr>
              <a:t>🧪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76288" y="3941064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B3D"/>
                </a:solidFill>
              </a:rPr>
              <a:t>Consola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76288" y="4206240"/>
            <a:ext cx="41605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78D"/>
                </a:solidFill>
              </a:rPr>
              <a:t>Sin errores JavaScript ni módulos faltantes.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85800" y="4937760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0392" y="5102352"/>
            <a:ext cx="4114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1B3D"/>
                </a:solidFill>
              </a:rPr>
              <a:t>🌿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44168" y="5084064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B3D"/>
                </a:solidFill>
              </a:rPr>
              <a:t>Git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344168" y="5349240"/>
            <a:ext cx="41605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78D"/>
                </a:solidFill>
              </a:rPr>
              <a:t>Commit descriptivo y cambios identificables.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217920" y="4937760"/>
            <a:ext cx="5166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F"/>
            </a:solidFill>
            <a:prstDash val="solid"/>
          </a:ln>
          <a:effectLst>
            <a:outerShdw sx="100000" sy="100000" kx="0" ky="0" algn="bl" rotWithShape="0" blurRad="19050" dist="50800" dir="2700000">
              <a:srgbClr val="A7B5C8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82512" y="5102352"/>
            <a:ext cx="4114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1B3D"/>
                </a:solidFill>
              </a:rPr>
              <a:t>📄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76288" y="5084064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B3D"/>
                </a:solidFill>
              </a:rPr>
              <a:t>Documentación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76288" y="5349240"/>
            <a:ext cx="41605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8778D"/>
                </a:solidFill>
              </a:rPr>
              <a:t>Historia, UML y flujo actualizados.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D8A9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3AE9F"/>
                </a:solidFill>
              </a:rPr>
              <a:t>TECHCART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De una interfaz atractiva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 una aplicación estructurada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4F3"/>
                </a:solidFill>
              </a:rPr>
              <a:t>El proyecto integra historias de usuario verificables, sprints cortos, arquitectura modular, POO, persistencia local, SPA y diseño responsive en un flujo coherente de compra.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1691640" cy="411480"/>
          </a:xfrm>
          <a:prstGeom prst="roundRect">
            <a:avLst>
              <a:gd name="adj" fmla="val 31111"/>
            </a:avLst>
          </a:prstGeom>
          <a:solidFill>
            <a:srgbClr val="0875EC">
              <a:alpha val="92000"/>
            </a:srgbClr>
          </a:solidFill>
          <a:ln w="12700">
            <a:solidFill>
              <a:srgbClr val="087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79392"/>
            <a:ext cx="169164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4160520"/>
            <a:ext cx="1691640" cy="411480"/>
          </a:xfrm>
          <a:prstGeom prst="roundRect">
            <a:avLst>
              <a:gd name="adj" fmla="val 31111"/>
            </a:avLst>
          </a:prstGeom>
          <a:solidFill>
            <a:srgbClr val="13AE9F">
              <a:alpha val="92000"/>
            </a:srgbClr>
          </a:solidFill>
          <a:ln w="12700">
            <a:solidFill>
              <a:srgbClr val="13AE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4279392"/>
            <a:ext cx="169164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4160520"/>
            <a:ext cx="1691640" cy="411480"/>
          </a:xfrm>
          <a:prstGeom prst="roundRect">
            <a:avLst>
              <a:gd name="adj" fmla="val 31111"/>
            </a:avLst>
          </a:prstGeom>
          <a:solidFill>
            <a:srgbClr val="7A5AF8">
              <a:alpha val="92000"/>
            </a:srgbClr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4279392"/>
            <a:ext cx="169164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JSON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4818888"/>
            <a:ext cx="1691640" cy="411480"/>
          </a:xfrm>
          <a:prstGeom prst="roundRect">
            <a:avLst>
              <a:gd name="adj" fmla="val 31111"/>
            </a:avLst>
          </a:prstGeom>
          <a:solidFill>
            <a:srgbClr val="FFB44B">
              <a:alpha val="92000"/>
            </a:srgbClr>
          </a:solidFill>
          <a:ln w="12700">
            <a:solidFill>
              <a:srgbClr val="FFB4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937760"/>
            <a:ext cx="169164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LocalStorage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4818888"/>
            <a:ext cx="1691640" cy="411480"/>
          </a:xfrm>
          <a:prstGeom prst="roundRect">
            <a:avLst>
              <a:gd name="adj" fmla="val 31111"/>
            </a:avLst>
          </a:prstGeom>
          <a:solidFill>
            <a:srgbClr val="65B5FF">
              <a:alpha val="92000"/>
            </a:srgbClr>
          </a:solidFill>
          <a:ln w="12700">
            <a:solidFill>
              <a:srgbClr val="65B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4937760"/>
            <a:ext cx="169164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Responsive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4818888"/>
            <a:ext cx="1691640" cy="411480"/>
          </a:xfrm>
          <a:prstGeom prst="roundRect">
            <a:avLst>
              <a:gd name="adj" fmla="val 31111"/>
            </a:avLst>
          </a:prstGeom>
          <a:solidFill>
            <a:srgbClr val="31C7B6">
              <a:alpha val="92000"/>
            </a:srgbClr>
          </a:solidFill>
          <a:ln w="12700">
            <a:solidFill>
              <a:srgbClr val="31C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937760"/>
            <a:ext cx="1691640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Chatbot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0100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</a:rPr>
              <a:t>LISTO PARA CONTINUAR CON PRUEBAS, ÓRDENES Y ENTREGA FINAL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TechCart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TechCart - Proyecto Integrador</dc:title>
  <dc:subject>TechCart - Historias de usuario, sprints, UML y flujo de la aplicación</dc:subject>
  <dc:creator>OpenAI</dc:creator>
  <cp:lastModifiedBy>OpenAI</cp:lastModifiedBy>
  <cp:revision>1</cp:revision>
  <dcterms:created xsi:type="dcterms:W3CDTF">2026-10-04T00:23:31Z</dcterms:created>
  <dcterms:modified xsi:type="dcterms:W3CDTF">2026-10-04T00:23:31Z</dcterms:modified>
</cp:coreProperties>
</file>